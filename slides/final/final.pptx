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22"/>
  </p:notesMasterIdLst>
  <p:sldIdLst>
    <p:sldId id="256" r:id="rId2"/>
    <p:sldId id="271" r:id="rId3"/>
    <p:sldId id="257" r:id="rId4"/>
    <p:sldId id="274" r:id="rId5"/>
    <p:sldId id="265" r:id="rId6"/>
    <p:sldId id="275" r:id="rId7"/>
    <p:sldId id="263" r:id="rId8"/>
    <p:sldId id="264" r:id="rId9"/>
    <p:sldId id="272" r:id="rId10"/>
    <p:sldId id="258" r:id="rId11"/>
    <p:sldId id="266" r:id="rId12"/>
    <p:sldId id="267" r:id="rId13"/>
    <p:sldId id="273" r:id="rId14"/>
    <p:sldId id="259" r:id="rId15"/>
    <p:sldId id="260" r:id="rId16"/>
    <p:sldId id="261" r:id="rId17"/>
    <p:sldId id="262" r:id="rId18"/>
    <p:sldId id="268" r:id="rId19"/>
    <p:sldId id="269" r:id="rId20"/>
    <p:sldId id="270" r:id="rId21"/>
  </p:sldIdLst>
  <p:sldSz cx="9144000" cy="5143500" type="screen16x9"/>
  <p:notesSz cx="6858000" cy="9144000"/>
  <p:embeddedFontLst>
    <p:embeddedFont>
      <p:font typeface="M PLUS 1p ExtraBold" panose="020B0802020203020207"/>
      <p:bold r:id="rId23"/>
    </p:embeddedFont>
    <p:embeddedFont>
      <p:font typeface="Noto Sans JP" panose="020B0200000000000000" pitchFamily="34" charset="-128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72F1EB-1AF0-43FA-8C39-57FBE8F6C2E6}">
  <a:tblStyle styleId="{A572F1EB-1AF0-43FA-8C39-57FBE8F6C2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168"/>
    <p:restoredTop sz="94731"/>
  </p:normalViewPr>
  <p:slideViewPr>
    <p:cSldViewPr snapToGrid="0">
      <p:cViewPr varScale="1">
        <p:scale>
          <a:sx n="194" d="100"/>
          <a:sy n="194" d="100"/>
        </p:scale>
        <p:origin x="25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都心 5 区（グループ 5）</c:v>
                </c:pt>
              </c:strCache>
            </c:strRef>
          </c:tx>
          <c:spPr>
            <a:ln w="28575">
              <a:solidFill>
                <a:srgbClr val="1F1F1F"/>
              </a:solidFill>
            </a:ln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2019</c:v>
                </c:pt>
                <c:pt idx="1">
                  <c:v> </c:v>
                </c:pt>
                <c:pt idx="2">
                  <c:v>  </c:v>
                </c:pt>
                <c:pt idx="3">
                  <c:v>   </c:v>
                </c:pt>
                <c:pt idx="4">
                  <c:v>2020</c:v>
                </c:pt>
                <c:pt idx="5">
                  <c:v>    </c:v>
                </c:pt>
                <c:pt idx="6">
                  <c:v>     </c:v>
                </c:pt>
                <c:pt idx="7">
                  <c:v>      </c:v>
                </c:pt>
                <c:pt idx="8">
                  <c:v>2021</c:v>
                </c:pt>
                <c:pt idx="9">
                  <c:v>       </c:v>
                </c:pt>
                <c:pt idx="10">
                  <c:v>        </c:v>
                </c:pt>
                <c:pt idx="11">
                  <c:v>         </c:v>
                </c:pt>
                <c:pt idx="12">
                  <c:v>2022</c:v>
                </c:pt>
                <c:pt idx="13">
                  <c:v>          </c:v>
                </c:pt>
                <c:pt idx="14">
                  <c:v>           </c:v>
                </c:pt>
                <c:pt idx="15">
                  <c:v>            </c:v>
                </c:pt>
                <c:pt idx="16">
                  <c:v>2023</c:v>
                </c:pt>
                <c:pt idx="17">
                  <c:v>             </c:v>
                </c:pt>
                <c:pt idx="18">
                  <c:v>              </c:v>
                </c:pt>
                <c:pt idx="19">
                  <c:v>               </c:v>
                </c:pt>
                <c:pt idx="20">
                  <c:v>2024</c:v>
                </c:pt>
                <c:pt idx="21">
                  <c:v>                </c:v>
                </c:pt>
                <c:pt idx="22">
                  <c:v>                 </c:v>
                </c:pt>
                <c:pt idx="23">
                  <c:v>                  </c:v>
                </c:pt>
                <c:pt idx="24">
                  <c:v>2025</c:v>
                </c:pt>
                <c:pt idx="25">
                  <c:v>                   </c:v>
                </c:pt>
                <c:pt idx="26">
                  <c:v>                    </c:v>
                </c:pt>
                <c:pt idx="27">
                  <c:v>                     </c:v>
                </c:pt>
                <c:pt idx="28">
                  <c:v>2026</c:v>
                </c:pt>
              </c:strCache>
            </c:strRef>
          </c:cat>
          <c:val>
            <c:numRef>
              <c:f>Sheet1!$B$2:$B$30</c:f>
              <c:numCache>
                <c:formatCode>0.00</c:formatCode>
                <c:ptCount val="29"/>
                <c:pt idx="0">
                  <c:v>0.61799999999999999</c:v>
                </c:pt>
                <c:pt idx="1">
                  <c:v>0.62</c:v>
                </c:pt>
                <c:pt idx="2">
                  <c:v>0.621</c:v>
                </c:pt>
                <c:pt idx="3">
                  <c:v>0.627</c:v>
                </c:pt>
                <c:pt idx="4">
                  <c:v>0.65300000000000002</c:v>
                </c:pt>
                <c:pt idx="5">
                  <c:v>0.66500000000000004</c:v>
                </c:pt>
                <c:pt idx="6">
                  <c:v>0.65300000000000002</c:v>
                </c:pt>
                <c:pt idx="7">
                  <c:v>0.65100000000000002</c:v>
                </c:pt>
                <c:pt idx="8">
                  <c:v>0.65200000000000002</c:v>
                </c:pt>
                <c:pt idx="9">
                  <c:v>0.66500000000000004</c:v>
                </c:pt>
                <c:pt idx="10">
                  <c:v>0.68100000000000005</c:v>
                </c:pt>
                <c:pt idx="11">
                  <c:v>0.68899999999999995</c:v>
                </c:pt>
                <c:pt idx="12">
                  <c:v>0.71399999999999997</c:v>
                </c:pt>
                <c:pt idx="13">
                  <c:v>0.72099999999999997</c:v>
                </c:pt>
                <c:pt idx="14">
                  <c:v>0.72499999999999998</c:v>
                </c:pt>
                <c:pt idx="15">
                  <c:v>0.74199999999999999</c:v>
                </c:pt>
                <c:pt idx="16">
                  <c:v>0.755</c:v>
                </c:pt>
                <c:pt idx="17">
                  <c:v>0.76600000000000001</c:v>
                </c:pt>
                <c:pt idx="18">
                  <c:v>0.77500000000000002</c:v>
                </c:pt>
                <c:pt idx="19">
                  <c:v>0.8</c:v>
                </c:pt>
                <c:pt idx="20">
                  <c:v>0.83699999999999997</c:v>
                </c:pt>
                <c:pt idx="21">
                  <c:v>0.86599999999999999</c:v>
                </c:pt>
                <c:pt idx="22">
                  <c:v>0.89100000000000001</c:v>
                </c:pt>
                <c:pt idx="23">
                  <c:v>0.91600000000000004</c:v>
                </c:pt>
                <c:pt idx="24">
                  <c:v>0.96699999999999997</c:v>
                </c:pt>
                <c:pt idx="2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F0-AB40-A80F-553B3B80F0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全体</c:v>
                </c:pt>
              </c:strCache>
            </c:strRef>
          </c:tx>
          <c:spPr>
            <a:ln w="22225">
              <a:solidFill>
                <a:srgbClr val="808080"/>
              </a:solidFill>
            </a:ln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2019</c:v>
                </c:pt>
                <c:pt idx="1">
                  <c:v> </c:v>
                </c:pt>
                <c:pt idx="2">
                  <c:v>  </c:v>
                </c:pt>
                <c:pt idx="3">
                  <c:v>   </c:v>
                </c:pt>
                <c:pt idx="4">
                  <c:v>2020</c:v>
                </c:pt>
                <c:pt idx="5">
                  <c:v>    </c:v>
                </c:pt>
                <c:pt idx="6">
                  <c:v>     </c:v>
                </c:pt>
                <c:pt idx="7">
                  <c:v>      </c:v>
                </c:pt>
                <c:pt idx="8">
                  <c:v>2021</c:v>
                </c:pt>
                <c:pt idx="9">
                  <c:v>       </c:v>
                </c:pt>
                <c:pt idx="10">
                  <c:v>        </c:v>
                </c:pt>
                <c:pt idx="11">
                  <c:v>         </c:v>
                </c:pt>
                <c:pt idx="12">
                  <c:v>2022</c:v>
                </c:pt>
                <c:pt idx="13">
                  <c:v>          </c:v>
                </c:pt>
                <c:pt idx="14">
                  <c:v>           </c:v>
                </c:pt>
                <c:pt idx="15">
                  <c:v>            </c:v>
                </c:pt>
                <c:pt idx="16">
                  <c:v>2023</c:v>
                </c:pt>
                <c:pt idx="17">
                  <c:v>             </c:v>
                </c:pt>
                <c:pt idx="18">
                  <c:v>              </c:v>
                </c:pt>
                <c:pt idx="19">
                  <c:v>               </c:v>
                </c:pt>
                <c:pt idx="20">
                  <c:v>2024</c:v>
                </c:pt>
                <c:pt idx="21">
                  <c:v>                </c:v>
                </c:pt>
                <c:pt idx="22">
                  <c:v>                 </c:v>
                </c:pt>
                <c:pt idx="23">
                  <c:v>                  </c:v>
                </c:pt>
                <c:pt idx="24">
                  <c:v>2025</c:v>
                </c:pt>
                <c:pt idx="25">
                  <c:v>                   </c:v>
                </c:pt>
                <c:pt idx="26">
                  <c:v>                    </c:v>
                </c:pt>
                <c:pt idx="27">
                  <c:v>                     </c:v>
                </c:pt>
                <c:pt idx="28">
                  <c:v>2026</c:v>
                </c:pt>
              </c:strCache>
            </c:strRef>
          </c:cat>
          <c:val>
            <c:numRef>
              <c:f>Sheet1!$C$2:$C$30</c:f>
              <c:numCache>
                <c:formatCode>0.00</c:formatCode>
                <c:ptCount val="29"/>
                <c:pt idx="0">
                  <c:v>0.69</c:v>
                </c:pt>
                <c:pt idx="1">
                  <c:v>0.69399999999999995</c:v>
                </c:pt>
                <c:pt idx="2">
                  <c:v>0.69399999999999995</c:v>
                </c:pt>
                <c:pt idx="3">
                  <c:v>0.70599999999999996</c:v>
                </c:pt>
                <c:pt idx="4">
                  <c:v>0.72499999999999998</c:v>
                </c:pt>
                <c:pt idx="5">
                  <c:v>0.72499999999999998</c:v>
                </c:pt>
                <c:pt idx="6">
                  <c:v>0.72499999999999998</c:v>
                </c:pt>
                <c:pt idx="7">
                  <c:v>0.72899999999999998</c:v>
                </c:pt>
                <c:pt idx="8">
                  <c:v>0.73599999999999999</c:v>
                </c:pt>
                <c:pt idx="9">
                  <c:v>0.75</c:v>
                </c:pt>
                <c:pt idx="10">
                  <c:v>0.76600000000000001</c:v>
                </c:pt>
                <c:pt idx="11">
                  <c:v>0.77700000000000002</c:v>
                </c:pt>
                <c:pt idx="12">
                  <c:v>0.80100000000000005</c:v>
                </c:pt>
                <c:pt idx="13">
                  <c:v>0.81100000000000005</c:v>
                </c:pt>
                <c:pt idx="14">
                  <c:v>0.81599999999999995</c:v>
                </c:pt>
                <c:pt idx="15">
                  <c:v>0.82599999999999996</c:v>
                </c:pt>
                <c:pt idx="16">
                  <c:v>0.84299999999999997</c:v>
                </c:pt>
                <c:pt idx="17">
                  <c:v>0.84499999999999997</c:v>
                </c:pt>
                <c:pt idx="18">
                  <c:v>0.85399999999999998</c:v>
                </c:pt>
                <c:pt idx="19">
                  <c:v>0.86499999999999999</c:v>
                </c:pt>
                <c:pt idx="20">
                  <c:v>0.89600000000000002</c:v>
                </c:pt>
                <c:pt idx="21">
                  <c:v>0.90900000000000003</c:v>
                </c:pt>
                <c:pt idx="22">
                  <c:v>0.92800000000000005</c:v>
                </c:pt>
                <c:pt idx="23">
                  <c:v>0.94299999999999995</c:v>
                </c:pt>
                <c:pt idx="24">
                  <c:v>0.97899999999999998</c:v>
                </c:pt>
                <c:pt idx="2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F0-AB40-A80F-553B3B80F0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多摩地域など（グループ 1）</c:v>
                </c:pt>
              </c:strCache>
            </c:strRef>
          </c:tx>
          <c:spPr>
            <a:ln w="22225">
              <a:solidFill>
                <a:srgbClr val="B8B8B8"/>
              </a:solidFill>
            </a:ln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2019</c:v>
                </c:pt>
                <c:pt idx="1">
                  <c:v> </c:v>
                </c:pt>
                <c:pt idx="2">
                  <c:v>  </c:v>
                </c:pt>
                <c:pt idx="3">
                  <c:v>   </c:v>
                </c:pt>
                <c:pt idx="4">
                  <c:v>2020</c:v>
                </c:pt>
                <c:pt idx="5">
                  <c:v>    </c:v>
                </c:pt>
                <c:pt idx="6">
                  <c:v>     </c:v>
                </c:pt>
                <c:pt idx="7">
                  <c:v>      </c:v>
                </c:pt>
                <c:pt idx="8">
                  <c:v>2021</c:v>
                </c:pt>
                <c:pt idx="9">
                  <c:v>       </c:v>
                </c:pt>
                <c:pt idx="10">
                  <c:v>        </c:v>
                </c:pt>
                <c:pt idx="11">
                  <c:v>         </c:v>
                </c:pt>
                <c:pt idx="12">
                  <c:v>2022</c:v>
                </c:pt>
                <c:pt idx="13">
                  <c:v>          </c:v>
                </c:pt>
                <c:pt idx="14">
                  <c:v>           </c:v>
                </c:pt>
                <c:pt idx="15">
                  <c:v>            </c:v>
                </c:pt>
                <c:pt idx="16">
                  <c:v>2023</c:v>
                </c:pt>
                <c:pt idx="17">
                  <c:v>             </c:v>
                </c:pt>
                <c:pt idx="18">
                  <c:v>              </c:v>
                </c:pt>
                <c:pt idx="19">
                  <c:v>               </c:v>
                </c:pt>
                <c:pt idx="20">
                  <c:v>2024</c:v>
                </c:pt>
                <c:pt idx="21">
                  <c:v>                </c:v>
                </c:pt>
                <c:pt idx="22">
                  <c:v>                 </c:v>
                </c:pt>
                <c:pt idx="23">
                  <c:v>                  </c:v>
                </c:pt>
                <c:pt idx="24">
                  <c:v>2025</c:v>
                </c:pt>
                <c:pt idx="25">
                  <c:v>                   </c:v>
                </c:pt>
                <c:pt idx="26">
                  <c:v>                    </c:v>
                </c:pt>
                <c:pt idx="27">
                  <c:v>                     </c:v>
                </c:pt>
                <c:pt idx="28">
                  <c:v>2026</c:v>
                </c:pt>
              </c:strCache>
            </c:strRef>
          </c:cat>
          <c:val>
            <c:numRef>
              <c:f>Sheet1!$D$2:$D$30</c:f>
              <c:numCache>
                <c:formatCode>0.00</c:formatCode>
                <c:ptCount val="29"/>
                <c:pt idx="0">
                  <c:v>0.71399999999999997</c:v>
                </c:pt>
                <c:pt idx="1">
                  <c:v>0.73399999999999999</c:v>
                </c:pt>
                <c:pt idx="2">
                  <c:v>0.73499999999999999</c:v>
                </c:pt>
                <c:pt idx="3">
                  <c:v>0.746</c:v>
                </c:pt>
                <c:pt idx="4">
                  <c:v>0.755</c:v>
                </c:pt>
                <c:pt idx="5">
                  <c:v>0.754</c:v>
                </c:pt>
                <c:pt idx="6">
                  <c:v>0.751</c:v>
                </c:pt>
                <c:pt idx="7">
                  <c:v>0.754</c:v>
                </c:pt>
                <c:pt idx="8">
                  <c:v>0.78100000000000003</c:v>
                </c:pt>
                <c:pt idx="9">
                  <c:v>0.8</c:v>
                </c:pt>
                <c:pt idx="10">
                  <c:v>0.81799999999999995</c:v>
                </c:pt>
                <c:pt idx="11">
                  <c:v>0.83599999999999997</c:v>
                </c:pt>
                <c:pt idx="12">
                  <c:v>0.85799999999999998</c:v>
                </c:pt>
                <c:pt idx="13">
                  <c:v>0.873</c:v>
                </c:pt>
                <c:pt idx="14">
                  <c:v>0.876</c:v>
                </c:pt>
                <c:pt idx="15">
                  <c:v>0.88500000000000001</c:v>
                </c:pt>
                <c:pt idx="16">
                  <c:v>0.90600000000000003</c:v>
                </c:pt>
                <c:pt idx="17">
                  <c:v>0.90500000000000003</c:v>
                </c:pt>
                <c:pt idx="18">
                  <c:v>0.90200000000000002</c:v>
                </c:pt>
                <c:pt idx="19">
                  <c:v>0.90800000000000003</c:v>
                </c:pt>
                <c:pt idx="20">
                  <c:v>0.93600000000000005</c:v>
                </c:pt>
                <c:pt idx="21">
                  <c:v>0.93300000000000005</c:v>
                </c:pt>
                <c:pt idx="22">
                  <c:v>0.95399999999999996</c:v>
                </c:pt>
                <c:pt idx="23">
                  <c:v>0.95499999999999996</c:v>
                </c:pt>
                <c:pt idx="24">
                  <c:v>0.98499999999999999</c:v>
                </c:pt>
                <c:pt idx="2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7F0-AB40-A80F-553B3B80F0D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都心 5 区（グループ 5）・延長</c:v>
                </c:pt>
              </c:strCache>
            </c:strRef>
          </c:tx>
          <c:spPr>
            <a:ln w="28575">
              <a:solidFill>
                <a:srgbClr val="1F1F1F"/>
              </a:solidFill>
              <a:prstDash val="dash"/>
            </a:ln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2019</c:v>
                </c:pt>
                <c:pt idx="1">
                  <c:v> </c:v>
                </c:pt>
                <c:pt idx="2">
                  <c:v>  </c:v>
                </c:pt>
                <c:pt idx="3">
                  <c:v>   </c:v>
                </c:pt>
                <c:pt idx="4">
                  <c:v>2020</c:v>
                </c:pt>
                <c:pt idx="5">
                  <c:v>    </c:v>
                </c:pt>
                <c:pt idx="6">
                  <c:v>     </c:v>
                </c:pt>
                <c:pt idx="7">
                  <c:v>      </c:v>
                </c:pt>
                <c:pt idx="8">
                  <c:v>2021</c:v>
                </c:pt>
                <c:pt idx="9">
                  <c:v>       </c:v>
                </c:pt>
                <c:pt idx="10">
                  <c:v>        </c:v>
                </c:pt>
                <c:pt idx="11">
                  <c:v>         </c:v>
                </c:pt>
                <c:pt idx="12">
                  <c:v>2022</c:v>
                </c:pt>
                <c:pt idx="13">
                  <c:v>          </c:v>
                </c:pt>
                <c:pt idx="14">
                  <c:v>           </c:v>
                </c:pt>
                <c:pt idx="15">
                  <c:v>            </c:v>
                </c:pt>
                <c:pt idx="16">
                  <c:v>2023</c:v>
                </c:pt>
                <c:pt idx="17">
                  <c:v>             </c:v>
                </c:pt>
                <c:pt idx="18">
                  <c:v>              </c:v>
                </c:pt>
                <c:pt idx="19">
                  <c:v>               </c:v>
                </c:pt>
                <c:pt idx="20">
                  <c:v>2024</c:v>
                </c:pt>
                <c:pt idx="21">
                  <c:v>                </c:v>
                </c:pt>
                <c:pt idx="22">
                  <c:v>                 </c:v>
                </c:pt>
                <c:pt idx="23">
                  <c:v>                  </c:v>
                </c:pt>
                <c:pt idx="24">
                  <c:v>2025</c:v>
                </c:pt>
                <c:pt idx="25">
                  <c:v>                   </c:v>
                </c:pt>
                <c:pt idx="26">
                  <c:v>                    </c:v>
                </c:pt>
                <c:pt idx="27">
                  <c:v>                     </c:v>
                </c:pt>
                <c:pt idx="28">
                  <c:v>2026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25" formatCode="0.00">
                  <c:v>1</c:v>
                </c:pt>
                <c:pt idx="26" formatCode="0.00">
                  <c:v>1.0409999999999999</c:v>
                </c:pt>
                <c:pt idx="27" formatCode="0.00">
                  <c:v>1.0840000000000001</c:v>
                </c:pt>
                <c:pt idx="28" formatCode="0.00">
                  <c:v>1.1279999999999999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7F0-AB40-A80F-553B3B80F0D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全体・延長</c:v>
                </c:pt>
              </c:strCache>
            </c:strRef>
          </c:tx>
          <c:spPr>
            <a:ln w="22225">
              <a:solidFill>
                <a:srgbClr val="808080"/>
              </a:solidFill>
              <a:prstDash val="dash"/>
            </a:ln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2019</c:v>
                </c:pt>
                <c:pt idx="1">
                  <c:v> </c:v>
                </c:pt>
                <c:pt idx="2">
                  <c:v>  </c:v>
                </c:pt>
                <c:pt idx="3">
                  <c:v>   </c:v>
                </c:pt>
                <c:pt idx="4">
                  <c:v>2020</c:v>
                </c:pt>
                <c:pt idx="5">
                  <c:v>    </c:v>
                </c:pt>
                <c:pt idx="6">
                  <c:v>     </c:v>
                </c:pt>
                <c:pt idx="7">
                  <c:v>      </c:v>
                </c:pt>
                <c:pt idx="8">
                  <c:v>2021</c:v>
                </c:pt>
                <c:pt idx="9">
                  <c:v>       </c:v>
                </c:pt>
                <c:pt idx="10">
                  <c:v>        </c:v>
                </c:pt>
                <c:pt idx="11">
                  <c:v>         </c:v>
                </c:pt>
                <c:pt idx="12">
                  <c:v>2022</c:v>
                </c:pt>
                <c:pt idx="13">
                  <c:v>          </c:v>
                </c:pt>
                <c:pt idx="14">
                  <c:v>           </c:v>
                </c:pt>
                <c:pt idx="15">
                  <c:v>            </c:v>
                </c:pt>
                <c:pt idx="16">
                  <c:v>2023</c:v>
                </c:pt>
                <c:pt idx="17">
                  <c:v>             </c:v>
                </c:pt>
                <c:pt idx="18">
                  <c:v>              </c:v>
                </c:pt>
                <c:pt idx="19">
                  <c:v>               </c:v>
                </c:pt>
                <c:pt idx="20">
                  <c:v>2024</c:v>
                </c:pt>
                <c:pt idx="21">
                  <c:v>                </c:v>
                </c:pt>
                <c:pt idx="22">
                  <c:v>                 </c:v>
                </c:pt>
                <c:pt idx="23">
                  <c:v>                  </c:v>
                </c:pt>
                <c:pt idx="24">
                  <c:v>2025</c:v>
                </c:pt>
                <c:pt idx="25">
                  <c:v>                   </c:v>
                </c:pt>
                <c:pt idx="26">
                  <c:v>                    </c:v>
                </c:pt>
                <c:pt idx="27">
                  <c:v>                     </c:v>
                </c:pt>
                <c:pt idx="28">
                  <c:v>2026</c:v>
                </c:pt>
              </c:strCache>
            </c:strRef>
          </c:cat>
          <c:val>
            <c:numRef>
              <c:f>Sheet1!$F$2:$F$30</c:f>
              <c:numCache>
                <c:formatCode>General</c:formatCode>
                <c:ptCount val="29"/>
                <c:pt idx="25" formatCode="0.00">
                  <c:v>1</c:v>
                </c:pt>
                <c:pt idx="26" formatCode="0.00">
                  <c:v>1.026</c:v>
                </c:pt>
                <c:pt idx="27" formatCode="0.00">
                  <c:v>1.054</c:v>
                </c:pt>
                <c:pt idx="28" formatCode="0.00">
                  <c:v>1.081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7F0-AB40-A80F-553B3B80F0D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多摩地域など（グループ 1）・延長</c:v>
                </c:pt>
              </c:strCache>
            </c:strRef>
          </c:tx>
          <c:spPr>
            <a:ln w="22225">
              <a:solidFill>
                <a:srgbClr val="B8B8B8"/>
              </a:solidFill>
              <a:prstDash val="dash"/>
            </a:ln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2019</c:v>
                </c:pt>
                <c:pt idx="1">
                  <c:v> </c:v>
                </c:pt>
                <c:pt idx="2">
                  <c:v>  </c:v>
                </c:pt>
                <c:pt idx="3">
                  <c:v>   </c:v>
                </c:pt>
                <c:pt idx="4">
                  <c:v>2020</c:v>
                </c:pt>
                <c:pt idx="5">
                  <c:v>    </c:v>
                </c:pt>
                <c:pt idx="6">
                  <c:v>     </c:v>
                </c:pt>
                <c:pt idx="7">
                  <c:v>      </c:v>
                </c:pt>
                <c:pt idx="8">
                  <c:v>2021</c:v>
                </c:pt>
                <c:pt idx="9">
                  <c:v>       </c:v>
                </c:pt>
                <c:pt idx="10">
                  <c:v>        </c:v>
                </c:pt>
                <c:pt idx="11">
                  <c:v>         </c:v>
                </c:pt>
                <c:pt idx="12">
                  <c:v>2022</c:v>
                </c:pt>
                <c:pt idx="13">
                  <c:v>          </c:v>
                </c:pt>
                <c:pt idx="14">
                  <c:v>           </c:v>
                </c:pt>
                <c:pt idx="15">
                  <c:v>            </c:v>
                </c:pt>
                <c:pt idx="16">
                  <c:v>2023</c:v>
                </c:pt>
                <c:pt idx="17">
                  <c:v>             </c:v>
                </c:pt>
                <c:pt idx="18">
                  <c:v>              </c:v>
                </c:pt>
                <c:pt idx="19">
                  <c:v>               </c:v>
                </c:pt>
                <c:pt idx="20">
                  <c:v>2024</c:v>
                </c:pt>
                <c:pt idx="21">
                  <c:v>                </c:v>
                </c:pt>
                <c:pt idx="22">
                  <c:v>                 </c:v>
                </c:pt>
                <c:pt idx="23">
                  <c:v>                  </c:v>
                </c:pt>
                <c:pt idx="24">
                  <c:v>2025</c:v>
                </c:pt>
                <c:pt idx="25">
                  <c:v>                   </c:v>
                </c:pt>
                <c:pt idx="26">
                  <c:v>                    </c:v>
                </c:pt>
                <c:pt idx="27">
                  <c:v>                     </c:v>
                </c:pt>
                <c:pt idx="28">
                  <c:v>2026</c:v>
                </c:pt>
              </c:strCache>
            </c:strRef>
          </c:cat>
          <c:val>
            <c:numRef>
              <c:f>Sheet1!$G$2:$G$30</c:f>
              <c:numCache>
                <c:formatCode>General</c:formatCode>
                <c:ptCount val="29"/>
                <c:pt idx="25" formatCode="0.00">
                  <c:v>1</c:v>
                </c:pt>
                <c:pt idx="26" formatCode="0.00">
                  <c:v>1.0169999999999999</c:v>
                </c:pt>
                <c:pt idx="27" formatCode="0.00">
                  <c:v>1.0349999999999999</c:v>
                </c:pt>
                <c:pt idx="28" formatCode="0.00">
                  <c:v>1.0529999999999999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7F0-AB40-A80F-553B3B80F0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  <a:endParaRPr lang="ja-JP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.2"/>
          <c:min val="0.6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ja-JP" altLang="en-US" sz="950" b="0"/>
                  <a:t>相場上昇（</a:t>
                </a:r>
                <a:r>
                  <a:rPr lang="en-US" altLang="ja-JP" sz="950" b="0"/>
                  <a:t>25</a:t>
                </a:r>
                <a:r>
                  <a:rPr lang="ja-JP" altLang="en-US" sz="950" b="0"/>
                  <a:t>年</a:t>
                </a:r>
                <a:r>
                  <a:rPr lang="en-US" altLang="ja-JP" sz="950" b="0"/>
                  <a:t>4〜6</a:t>
                </a:r>
                <a:r>
                  <a:rPr lang="ja-JP" altLang="en-US" sz="950" b="0"/>
                  <a:t>月 ＝ </a:t>
                </a:r>
                <a:r>
                  <a:rPr lang="en-US" altLang="ja-JP" sz="950" b="0"/>
                  <a:t>1</a:t>
                </a:r>
                <a:r>
                  <a:rPr lang="ja-JP" altLang="en-US" sz="950" b="0"/>
                  <a:t>）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crossAx val="2118791784"/>
        <c:crosses val="autoZero"/>
        <c:crossBetween val="between"/>
        <c:majorUnit val="0.1"/>
      </c:valAx>
    </c:plotArea>
    <c:plotVisOnly val="1"/>
    <c:dispBlanksAs val="gap"/>
    <c:showDLblsOverMax val="0"/>
  </c:chart>
  <c:txPr>
    <a:bodyPr/>
    <a:lstStyle/>
    <a:p>
      <a:pPr>
        <a:defRPr sz="950">
          <a:latin typeface="Noto Sans JP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Public LB の改善幅</c:v>
                </c:pt>
              </c:strCache>
            </c:strRef>
          </c:tx>
          <c:spPr>
            <a:solidFill>
              <a:srgbClr val="404040"/>
            </a:solidFill>
          </c:spPr>
          <c:invertIfNegative val="1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提出 10 → 12：成約の重み・TE の平滑化・LB probing</c:v>
                </c:pt>
                <c:pt idx="1">
                  <c:v>提出 9 → 10：13 モデル・TE・seed 平均など</c:v>
                </c:pt>
                <c:pt idx="2">
                  <c:v>提出 8 → 9：6 モデルの stacking・建物ごとの集計</c:v>
                </c:pt>
                <c:pt idx="3">
                  <c:v>提出 5 → 8：主要駅までの距離・周辺との差・4 モデル平均</c:v>
                </c:pt>
                <c:pt idx="4">
                  <c:v>提出 3 → 5：㎡単価の目的変数と相場上昇 ※</c:v>
                </c:pt>
                <c:pt idx="5">
                  <c:v>提出 1 → 3：カテゴリの扱い・学習率・Huber 損失</c:v>
                </c:pt>
              </c:strCache>
            </c:strRef>
          </c:cat>
          <c:val>
            <c:numRef>
              <c:f>Sheet1!$B$2:$B$7</c:f>
              <c:numCache>
                <c:formatCode>0.0000</c:formatCode>
                <c:ptCount val="6"/>
                <c:pt idx="0">
                  <c:v>2.4000000000000001E-4</c:v>
                </c:pt>
                <c:pt idx="1">
                  <c:v>1.75E-3</c:v>
                </c:pt>
                <c:pt idx="2">
                  <c:v>4.81E-3</c:v>
                </c:pt>
                <c:pt idx="3">
                  <c:v>4.5799999999999999E-3</c:v>
                </c:pt>
                <c:pt idx="4">
                  <c:v>2.0500000000000002E-3</c:v>
                </c:pt>
                <c:pt idx="5">
                  <c:v>6.28E-3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371-E04D-8F6F-C6961BDF61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.0000000000000001E-3"/>
          <c:min val="0"/>
        </c:scaling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950" b="0"/>
                  <a:t>Public LB </a:t>
                </a:r>
                <a:r>
                  <a:rPr lang="ja-JP" altLang="en-US" sz="950" b="0"/>
                  <a:t>の改善幅（前の段の提出との差、大きいほど良くなった）</a:t>
                </a:r>
              </a:p>
            </c:rich>
          </c:tx>
          <c:overlay val="0"/>
        </c:title>
        <c:numFmt formatCode="0.000" sourceLinked="0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  <a:endParaRPr lang="ja-JP"/>
          </a:p>
        </c:txPr>
        <c:crossAx val="-2068027336"/>
        <c:crosses val="autoZero"/>
        <c:crossBetween val="between"/>
        <c:majorUnit val="1E-3"/>
      </c:valAx>
    </c:plotArea>
    <c:plotVisOnly val="1"/>
    <c:dispBlanksAs val="gap"/>
    <c:showDLblsOverMax val="1"/>
  </c:chart>
  <c:txPr>
    <a:bodyPr/>
    <a:lstStyle/>
    <a:p>
      <a:pPr>
        <a:defRPr sz="1100">
          <a:latin typeface="Noto Sans JP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</c:v>
                </c:pt>
              </c:strCache>
            </c:strRef>
          </c:tx>
          <c:spPr>
            <a:ln w="25400">
              <a:solidFill>
                <a:srgbClr val="999999"/>
              </a:solidFill>
            </a:ln>
          </c:spPr>
          <c:marker>
            <c:symbol val="circle"/>
            <c:size val="6"/>
            <c:spPr>
              <a:solidFill>
                <a:srgbClr val="999999"/>
              </a:solidFill>
              <a:ln>
                <a:solidFill>
                  <a:srgbClr val="999999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0.000</c:formatCode>
                <c:ptCount val="12"/>
                <c:pt idx="0">
                  <c:v>0.20674000000000001</c:v>
                </c:pt>
                <c:pt idx="1">
                  <c:v>0.2036</c:v>
                </c:pt>
                <c:pt idx="2">
                  <c:v>0.20004</c:v>
                </c:pt>
                <c:pt idx="3">
                  <c:v>0.19727</c:v>
                </c:pt>
                <c:pt idx="4">
                  <c:v>0.19664000000000001</c:v>
                </c:pt>
                <c:pt idx="5">
                  <c:v>0.19553000000000001</c:v>
                </c:pt>
                <c:pt idx="6">
                  <c:v>0.19358</c:v>
                </c:pt>
                <c:pt idx="7">
                  <c:v>0.19173999999999999</c:v>
                </c:pt>
                <c:pt idx="8">
                  <c:v>0.18765000000000001</c:v>
                </c:pt>
                <c:pt idx="9">
                  <c:v>0.18531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FF-854B-BCED-E07A646A93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Public LB</c:v>
                </c:pt>
              </c:strCache>
            </c:strRef>
          </c:tx>
          <c:spPr>
            <a:ln w="25400">
              <a:solidFill>
                <a:srgbClr val="1F1F1F"/>
              </a:solidFill>
            </a:ln>
          </c:spPr>
          <c:marker>
            <c:symbol val="circle"/>
            <c:size val="6"/>
            <c:spPr>
              <a:solidFill>
                <a:srgbClr val="1F1F1F"/>
              </a:solidFill>
              <a:ln>
                <a:solidFill>
                  <a:srgbClr val="1F1F1F"/>
                </a:solidFill>
              </a:ln>
            </c:spPr>
          </c:marker>
          <c:dLbls>
            <c:dLbl>
              <c:idx val="9"/>
              <c:numFmt formatCode="0.00000" sourceLinked="0"/>
              <c:spPr/>
              <c:txPr>
                <a:bodyPr/>
                <a:lstStyle/>
                <a:p>
                  <a:pPr>
                    <a:defRPr sz="900"/>
                  </a:pPr>
                  <a:endParaRPr lang="ja-JP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FF-854B-BCED-E07A646A93F4}"/>
                </c:ext>
              </c:extLst>
            </c:dLbl>
            <c:dLbl>
              <c:idx val="11"/>
              <c:numFmt formatCode="0.00000" sourceLinked="0"/>
              <c:spPr/>
              <c:txPr>
                <a:bodyPr/>
                <a:lstStyle/>
                <a:p>
                  <a:pPr>
                    <a:defRPr sz="900"/>
                  </a:pPr>
                  <a:endParaRPr lang="ja-JP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FFF-854B-BCED-E07A646A93F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0.000</c:formatCode>
                <c:ptCount val="12"/>
                <c:pt idx="0">
                  <c:v>0.20541999999999999</c:v>
                </c:pt>
                <c:pt idx="1">
                  <c:v>0.20222000000000001</c:v>
                </c:pt>
                <c:pt idx="2">
                  <c:v>0.19914000000000001</c:v>
                </c:pt>
                <c:pt idx="3">
                  <c:v>0.20058999999999999</c:v>
                </c:pt>
                <c:pt idx="4">
                  <c:v>0.19708999999999999</c:v>
                </c:pt>
                <c:pt idx="5">
                  <c:v>0.19561000000000001</c:v>
                </c:pt>
                <c:pt idx="6">
                  <c:v>0.19320999999999999</c:v>
                </c:pt>
                <c:pt idx="7">
                  <c:v>0.19250999999999999</c:v>
                </c:pt>
                <c:pt idx="8">
                  <c:v>0.18770000000000001</c:v>
                </c:pt>
                <c:pt idx="9">
                  <c:v>0.18595</c:v>
                </c:pt>
                <c:pt idx="10">
                  <c:v>0.18604000000000001</c:v>
                </c:pt>
                <c:pt idx="11">
                  <c:v>0.18570999999999999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FF-854B-BCED-E07A646A93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Private LB</c:v>
                </c:pt>
              </c:strCache>
            </c:strRef>
          </c:tx>
          <c:spPr>
            <a:ln w="19050">
              <a:solidFill>
                <a:srgbClr val="1F1F1F"/>
              </a:solidFill>
              <a:prstDash val="dash"/>
            </a:ln>
          </c:spPr>
          <c:marker>
            <c:symbol val="square"/>
            <c:size val="6"/>
            <c:spPr>
              <a:solidFill>
                <a:srgbClr val="1F1F1F"/>
              </a:solidFill>
              <a:ln>
                <a:solidFill>
                  <a:srgbClr val="1F1F1F"/>
                </a:solidFill>
              </a:ln>
            </c:spPr>
          </c:marker>
          <c:dLbls>
            <c:dLbl>
              <c:idx val="9"/>
              <c:numFmt formatCode="0.00000" sourceLinked="0"/>
              <c:spPr/>
              <c:txPr>
                <a:bodyPr/>
                <a:lstStyle/>
                <a:p>
                  <a:pPr>
                    <a:defRPr sz="900"/>
                  </a:pPr>
                  <a:endParaRPr lang="ja-JP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FFF-854B-BCED-E07A646A93F4}"/>
                </c:ext>
              </c:extLst>
            </c:dLbl>
            <c:dLbl>
              <c:idx val="11"/>
              <c:numFmt formatCode="0.00000" sourceLinked="0"/>
              <c:spPr/>
              <c:txPr>
                <a:bodyPr/>
                <a:lstStyle/>
                <a:p>
                  <a:pPr>
                    <a:defRPr sz="900"/>
                  </a:pPr>
                  <a:endParaRPr lang="ja-JP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FFF-854B-BCED-E07A646A93F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Sheet1!$D$2:$D$13</c:f>
              <c:numCache>
                <c:formatCode>0.000</c:formatCode>
                <c:ptCount val="12"/>
                <c:pt idx="0">
                  <c:v>0.22595999999999999</c:v>
                </c:pt>
                <c:pt idx="1">
                  <c:v>0.22334999999999999</c:v>
                </c:pt>
                <c:pt idx="2">
                  <c:v>0.21876000000000001</c:v>
                </c:pt>
                <c:pt idx="3">
                  <c:v>0.21251</c:v>
                </c:pt>
                <c:pt idx="4">
                  <c:v>0.20924999999999999</c:v>
                </c:pt>
                <c:pt idx="5">
                  <c:v>0.20843999999999999</c:v>
                </c:pt>
                <c:pt idx="6">
                  <c:v>0.20669999999999999</c:v>
                </c:pt>
                <c:pt idx="7">
                  <c:v>0.20491000000000001</c:v>
                </c:pt>
                <c:pt idx="8">
                  <c:v>0.19958999999999999</c:v>
                </c:pt>
                <c:pt idx="9">
                  <c:v>0.19828000000000001</c:v>
                </c:pt>
                <c:pt idx="10">
                  <c:v>0.19828000000000001</c:v>
                </c:pt>
                <c:pt idx="11">
                  <c:v>0.19786000000000001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FFF-854B-BCED-E07A646A93F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CV（リーク修正後）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7"/>
            <c:spPr>
              <a:solidFill>
                <a:srgbClr val="FFFFFF"/>
              </a:solidFill>
              <a:ln w="19050">
                <a:solidFill>
                  <a:srgbClr val="999999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11" formatCode="0.000">
                  <c:v>0.18604000000000001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6FFF-854B-BCED-E07A646A93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 sz="1000" b="0"/>
                  <a:t>提出の順（右の番号）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22800000000000001"/>
          <c:min val="0.184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/>
                  <a:t>RMSLE（</a:t>
                </a:r>
                <a:r>
                  <a:rPr lang="ja-JP" altLang="en-US" sz="1000" b="0"/>
                  <a:t>小さいほど良い）</a:t>
                </a:r>
              </a:p>
            </c:rich>
          </c:tx>
          <c:overlay val="0"/>
        </c:title>
        <c:numFmt formatCode="0.000" sourceLinked="0"/>
        <c:majorTickMark val="out"/>
        <c:minorTickMark val="none"/>
        <c:tickLblPos val="nextTo"/>
        <c:crossAx val="2118791784"/>
        <c:crosses val="autoZero"/>
        <c:crossBetween val="between"/>
        <c:majorUnit val="8.0000000000000002E-3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Noto Sans JP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LB の式 L(c)</c:v>
                </c:pt>
              </c:strCache>
            </c:strRef>
          </c:tx>
          <c:spPr>
            <a:ln w="22225">
              <a:solidFill>
                <a:srgbClr val="808080"/>
              </a:solidFill>
            </a:ln>
          </c:spPr>
          <c:marker>
            <c:symbol val="none"/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-0.1</c:v>
                </c:pt>
                <c:pt idx="1">
                  <c:v>-0.05</c:v>
                </c:pt>
                <c:pt idx="2">
                  <c:v>0</c:v>
                </c:pt>
                <c:pt idx="3">
                  <c:v>0.05</c:v>
                </c:pt>
                <c:pt idx="4">
                  <c:v>0.1</c:v>
                </c:pt>
                <c:pt idx="5">
                  <c:v>0.15</c:v>
                </c:pt>
                <c:pt idx="6">
                  <c:v>0.2</c:v>
                </c:pt>
                <c:pt idx="7">
                  <c:v>0.25</c:v>
                </c:pt>
                <c:pt idx="8">
                  <c:v>0.3</c:v>
                </c:pt>
                <c:pt idx="9">
                  <c:v>0.35000000000000003</c:v>
                </c:pt>
                <c:pt idx="10">
                  <c:v>0.4</c:v>
                </c:pt>
                <c:pt idx="11">
                  <c:v>0.44999999999999996</c:v>
                </c:pt>
                <c:pt idx="12">
                  <c:v>0.5</c:v>
                </c:pt>
                <c:pt idx="13">
                  <c:v>0.55000000000000004</c:v>
                </c:pt>
                <c:pt idx="14">
                  <c:v>0.6</c:v>
                </c:pt>
                <c:pt idx="15">
                  <c:v>0.65</c:v>
                </c:pt>
                <c:pt idx="16">
                  <c:v>0.70000000000000007</c:v>
                </c:pt>
                <c:pt idx="17">
                  <c:v>0.75000000000000011</c:v>
                </c:pt>
                <c:pt idx="18">
                  <c:v>0.8</c:v>
                </c:pt>
                <c:pt idx="19">
                  <c:v>0.85000000000000009</c:v>
                </c:pt>
                <c:pt idx="20">
                  <c:v>0.90000000000000013</c:v>
                </c:pt>
                <c:pt idx="21">
                  <c:v>0.95000000000000018</c:v>
                </c:pt>
                <c:pt idx="22">
                  <c:v>0.99999999999999989</c:v>
                </c:pt>
                <c:pt idx="23">
                  <c:v>1.0499999999999998</c:v>
                </c:pt>
                <c:pt idx="24">
                  <c:v>1.0999999999999999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0.18597057452726223</c:v>
                </c:pt>
                <c:pt idx="1">
                  <c:v>0.18595961536043248</c:v>
                </c:pt>
                <c:pt idx="2">
                  <c:v>0.18595</c:v>
                </c:pt>
                <c:pt idx="3">
                  <c:v>0.18594172865443626</c:v>
                </c:pt>
                <c:pt idx="4">
                  <c:v>0.18593480150310754</c:v>
                </c:pt>
                <c:pt idx="5">
                  <c:v>0.1859292186962555</c:v>
                </c:pt>
                <c:pt idx="6">
                  <c:v>0.18592498035498081</c:v>
                </c:pt>
                <c:pt idx="7">
                  <c:v>0.18592208657123016</c:v>
                </c:pt>
                <c:pt idx="8">
                  <c:v>0.18592053740778614</c:v>
                </c:pt>
                <c:pt idx="9">
                  <c:v>0.18592033289826049</c:v>
                </c:pt>
                <c:pt idx="10">
                  <c:v>0.1859214730470905</c:v>
                </c:pt>
                <c:pt idx="11">
                  <c:v>0.18592395782953847</c:v>
                </c:pt>
                <c:pt idx="12">
                  <c:v>0.18592778719169439</c:v>
                </c:pt>
                <c:pt idx="13">
                  <c:v>0.18593296105048185</c:v>
                </c:pt>
                <c:pt idx="14">
                  <c:v>0.18593947929366694</c:v>
                </c:pt>
                <c:pt idx="15">
                  <c:v>0.1859473417798706</c:v>
                </c:pt>
                <c:pt idx="16">
                  <c:v>0.18595654833858366</c:v>
                </c:pt>
                <c:pt idx="17">
                  <c:v>0.18596709877018569</c:v>
                </c:pt>
                <c:pt idx="18">
                  <c:v>0.18597899284596636</c:v>
                </c:pt>
                <c:pt idx="19">
                  <c:v>0.18599223030815026</c:v>
                </c:pt>
                <c:pt idx="20">
                  <c:v>0.18600681086992488</c:v>
                </c:pt>
                <c:pt idx="21">
                  <c:v>0.18602273421547164</c:v>
                </c:pt>
                <c:pt idx="22">
                  <c:v>0.18604000000000001</c:v>
                </c:pt>
                <c:pt idx="23">
                  <c:v>0.18605860784978481</c:v>
                </c:pt>
                <c:pt idx="24">
                  <c:v>0.18607855736220658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FD7-0D45-8604-22169A804884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提出 10（c ＝ 0）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8"/>
            <c:spPr>
              <a:solidFill>
                <a:srgbClr val="1F1F1F"/>
              </a:solidFill>
              <a:ln>
                <a:solidFill>
                  <a:srgbClr val="1F1F1F"/>
                </a:solidFill>
              </a:ln>
            </c:spPr>
          </c:marker>
          <c:xVal>
            <c:numRef>
              <c:f>Sheet1!$A$29:$A$29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Sheet1!$B$29:$B$29</c:f>
              <c:numCache>
                <c:formatCode>General</c:formatCode>
                <c:ptCount val="1"/>
                <c:pt idx="0">
                  <c:v>0.18595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FD7-0D45-8604-22169A804884}"/>
            </c:ext>
          </c:extLst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提出 11（c ＝ 1%）</c:v>
                </c:pt>
              </c:strCache>
            </c:strRef>
          </c:tx>
          <c:spPr>
            <a:ln>
              <a:noFill/>
            </a:ln>
          </c:spPr>
          <c:marker>
            <c:symbol val="square"/>
            <c:size val="8"/>
            <c:spPr>
              <a:solidFill>
                <a:srgbClr val="1F1F1F"/>
              </a:solidFill>
              <a:ln>
                <a:solidFill>
                  <a:srgbClr val="1F1F1F"/>
                </a:solidFill>
              </a:ln>
            </c:spPr>
          </c:marker>
          <c:xVal>
            <c:numRef>
              <c:f>Sheet1!$A$32:$A$32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Sheet1!$B$32:$B$32</c:f>
              <c:numCache>
                <c:formatCode>General</c:formatCode>
                <c:ptCount val="1"/>
                <c:pt idx="0">
                  <c:v>0.18604000000000001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FD7-0D45-8604-22169A804884}"/>
            </c:ext>
          </c:extLst>
        </c:ser>
        <c:ser>
          <c:idx val="3"/>
          <c:order val="3"/>
          <c:tx>
            <c:strRef>
              <c:f>Sheet1!$B$34</c:f>
              <c:strCache>
                <c:ptCount val="1"/>
                <c:pt idx="0">
                  <c:v>谷：c ＝ m ＝ 0.33%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8"/>
            <c:spPr>
              <a:solidFill>
                <a:srgbClr val="1F1F1F"/>
              </a:solidFill>
              <a:ln>
                <a:solidFill>
                  <a:srgbClr val="1F1F1F"/>
                </a:solidFill>
              </a:ln>
            </c:spPr>
          </c:marker>
          <c:xVal>
            <c:numRef>
              <c:f>Sheet1!$A$35:$A$35</c:f>
              <c:numCache>
                <c:formatCode>General</c:formatCode>
                <c:ptCount val="1"/>
                <c:pt idx="0">
                  <c:v>0.33260449999997871</c:v>
                </c:pt>
              </c:numCache>
            </c:numRef>
          </c:xVal>
          <c:yVal>
            <c:numRef>
              <c:f>Sheet1!$B$35:$B$35</c:f>
              <c:numCache>
                <c:formatCode>General</c:formatCode>
                <c:ptCount val="1"/>
                <c:pt idx="0">
                  <c:v>0.18592025151838079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FD7-0D45-8604-22169A8048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.1000000000000001"/>
          <c:min val="-0.1"/>
        </c:scaling>
        <c:delete val="0"/>
        <c:axPos val="b"/>
        <c:title>
          <c:tx>
            <c:rich>
              <a:bodyPr/>
              <a:lstStyle/>
              <a:p>
                <a:r>
                  <a:rPr lang="en-US" altLang="ja-JP" sz="950" b="0"/>
                  <a:t>7〜9 </a:t>
                </a:r>
                <a:r>
                  <a:rPr lang="ja-JP" altLang="en-US" sz="950" b="0"/>
                  <a:t>月の予測を下げた量 </a:t>
                </a:r>
                <a:r>
                  <a:rPr lang="en-US" sz="950" b="0"/>
                  <a:t>c（%）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crossAx val="-2129643912"/>
        <c:crosses val="autoZero"/>
        <c:crossBetween val="midCat"/>
        <c:majorUnit val="0.25"/>
      </c:valAx>
      <c:valAx>
        <c:axId val="-2129643912"/>
        <c:scaling>
          <c:orientation val="minMax"/>
          <c:max val="0.18609999999999999"/>
          <c:min val="0.18584999999999999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950" b="0"/>
                  <a:t>Public LB（</a:t>
                </a:r>
                <a:r>
                  <a:rPr lang="ja-JP" altLang="en-US" sz="950" b="0"/>
                  <a:t>小さいほど良い）</a:t>
                </a:r>
              </a:p>
            </c:rich>
          </c:tx>
          <c:overlay val="0"/>
        </c:title>
        <c:numFmt formatCode="0.00000" sourceLinked="0"/>
        <c:majorTickMark val="out"/>
        <c:minorTickMark val="none"/>
        <c:tickLblPos val="nextTo"/>
        <c:crossAx val="-2128940872"/>
        <c:crosses val="autoZero"/>
        <c:crossBetween val="midCat"/>
        <c:majorUnit val="5.0000000000000002E-5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950">
          <a:latin typeface="Noto Sans JP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8ba2e4b7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28ba2e4b7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8b6ac8d16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28b6ac8d16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f26_scor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f26_scor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f26_aius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f26_aius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8b6ac8d16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8b6ac8d16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93f6d7f03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93f6d7f03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93f6d7f03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93f6d7f03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087250"/>
            <a:ext cx="8520600" cy="15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M PLUS 1p ExtraBold"/>
              <a:buNone/>
              <a:defRPr sz="3600">
                <a:latin typeface="M PLUS 1p ExtraBold"/>
                <a:ea typeface="M PLUS 1p ExtraBold"/>
                <a:cs typeface="M PLUS 1p ExtraBold"/>
                <a:sym typeface="M PLUS 1p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sz="2200" b="0">
                <a:latin typeface="M PLUS 1p ExtraBold"/>
                <a:ea typeface="M PLUS 1p ExtraBold"/>
                <a:cs typeface="M PLUS 1p ExtraBold"/>
                <a:sym typeface="M PLUS 1p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sz="2200" b="0">
                <a:latin typeface="M PLUS 1p ExtraBold"/>
                <a:ea typeface="M PLUS 1p ExtraBold"/>
                <a:cs typeface="M PLUS 1p ExtraBold"/>
                <a:sym typeface="M PLUS 1p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sz="2200" b="0">
                <a:latin typeface="M PLUS 1p ExtraBold"/>
                <a:ea typeface="M PLUS 1p ExtraBold"/>
                <a:cs typeface="M PLUS 1p ExtraBold"/>
                <a:sym typeface="M PLUS 1p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sz="2200" b="0">
                <a:latin typeface="M PLUS 1p ExtraBold"/>
                <a:ea typeface="M PLUS 1p ExtraBold"/>
                <a:cs typeface="M PLUS 1p ExtraBold"/>
                <a:sym typeface="M PLUS 1p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sz="2200" b="0">
                <a:latin typeface="M PLUS 1p ExtraBold"/>
                <a:ea typeface="M PLUS 1p ExtraBold"/>
                <a:cs typeface="M PLUS 1p ExtraBold"/>
                <a:sym typeface="M PLUS 1p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sz="2200" b="0">
                <a:latin typeface="M PLUS 1p ExtraBold"/>
                <a:ea typeface="M PLUS 1p ExtraBold"/>
                <a:cs typeface="M PLUS 1p ExtraBold"/>
                <a:sym typeface="M PLUS 1p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sz="2200" b="0">
                <a:latin typeface="M PLUS 1p ExtraBold"/>
                <a:ea typeface="M PLUS 1p ExtraBold"/>
                <a:cs typeface="M PLUS 1p ExtraBold"/>
                <a:sym typeface="M PLUS 1p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sz="2200" b="0">
                <a:latin typeface="M PLUS 1p ExtraBold"/>
                <a:ea typeface="M PLUS 1p ExtraBold"/>
                <a:cs typeface="M PLUS 1p ExtraBold"/>
                <a:sym typeface="M PLUS 1p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sz="2200" b="0">
                <a:latin typeface="M PLUS 1p ExtraBold"/>
                <a:ea typeface="M PLUS 1p ExtraBold"/>
                <a:cs typeface="M PLUS 1p ExtraBold"/>
                <a:sym typeface="M PLUS 1p ExtraBold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marL="914400" lvl="1" indent="-355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marL="1371600" lvl="2" indent="-355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marL="1828800" lvl="3" indent="-355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marL="2286000" lvl="4" indent="-355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marL="2743200" lvl="5" indent="-355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marL="3200400" lvl="6" indent="-355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marL="3657600" lvl="7" indent="-355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marL="4114800" lvl="8" indent="-35560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sz="2800"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sz="2800" b="1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sz="2800" b="1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sz="2800" b="1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sz="2800" b="1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sz="2800" b="1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sz="2800" b="1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sz="2800" b="1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sz="2800" b="1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JP"/>
              <a:buChar char="●"/>
              <a:defRPr sz="1800"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●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●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500"/>
              <a:t>2026年度「機械学習応用」</a:t>
            </a:r>
            <a:br>
              <a:rPr lang="ja" sz="4500"/>
            </a:br>
            <a:r>
              <a:rPr lang="ja" sz="4000"/>
              <a:t>中古マンション価格予測 最終報告</a:t>
            </a:r>
            <a:br>
              <a:rPr lang="ja" sz="4000"/>
            </a:br>
            <a:r>
              <a:rPr lang="ja" sz="4000"/>
              <a:t>[Di molt]</a:t>
            </a:r>
            <a:endParaRPr sz="3500"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311700" y="3166625"/>
            <a:ext cx="8520600" cy="15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2026/10/23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南條 佑太、大久保 翔、藤瀬 太翼、小林 麟太郎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最終モデルとそこに至った経緯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相場上昇を除いた㎡単価を予測する</a:t>
            </a:r>
            <a:r>
              <a:rPr lang="en-US" altLang="ja-JP" dirty="0"/>
              <a:t>13</a:t>
            </a:r>
            <a:r>
              <a:rPr lang="ja-JP" altLang="en-US"/>
              <a:t>モデルの</a:t>
            </a:r>
            <a:r>
              <a:rPr lang="en-US" altLang="ja-JP" dirty="0"/>
              <a:t>stacking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310896" y="850392"/>
            <a:ext cx="8522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Noto Sans JP"/>
                <a:ea typeface="Noto Sans JP"/>
              </a:rPr>
              <a:t>予測ができるまでの流れ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" y="1097280"/>
            <a:ext cx="7178040" cy="420624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l"/>
            <a:r>
              <a:rPr sz="1400" b="0">
                <a:solidFill>
                  <a:srgbClr val="595959"/>
                </a:solidFill>
                <a:latin typeface="Noto Sans JP"/>
                <a:ea typeface="Noto Sans JP"/>
              </a:rPr>
              <a:t>目的変数：</a:t>
            </a:r>
            <a:r>
              <a:rPr sz="1400" b="0">
                <a:solidFill>
                  <a:srgbClr val="262626"/>
                </a:solidFill>
                <a:latin typeface="Noto Sans JP"/>
                <a:ea typeface="Noto Sans JP"/>
              </a:rPr>
              <a:t>log(㎡単価) − log(相場上昇)、時期による値上がりを除いて学習する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0375" y="1097280"/>
            <a:ext cx="1280160" cy="420624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Noto Sans JP"/>
                <a:ea typeface="Noto Sans JP"/>
              </a:rPr>
              <a:t>→ 4 ページ</a:t>
            </a:r>
          </a:p>
        </p:txBody>
      </p:sp>
      <p:sp>
        <p:nvSpPr>
          <p:cNvPr id="34" name="Merge 33"/>
          <p:cNvSpPr/>
          <p:nvPr/>
        </p:nvSpPr>
        <p:spPr>
          <a:xfrm>
            <a:off x="3799331" y="1540763"/>
            <a:ext cx="201168" cy="91440"/>
          </a:xfrm>
          <a:prstGeom prst="flowChartMerg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0896" y="1609344"/>
            <a:ext cx="7178040" cy="420624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l"/>
            <a:r>
              <a:rPr sz="1400" b="0">
                <a:solidFill>
                  <a:srgbClr val="595959"/>
                </a:solidFill>
                <a:latin typeface="Noto Sans JP"/>
                <a:ea typeface="Noto Sans JP"/>
              </a:rPr>
              <a:t>特徴量：</a:t>
            </a:r>
            <a:r>
              <a:rPr sz="1400" b="0">
                <a:solidFill>
                  <a:srgbClr val="262626"/>
                </a:solidFill>
                <a:latin typeface="Noto Sans JP"/>
                <a:ea typeface="Noto Sans JP"/>
              </a:rPr>
              <a:t>価格を使わない集計が中心、価格を使う TE は fold ごとに作る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0375" y="1609344"/>
            <a:ext cx="1280160" cy="420624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Noto Sans JP"/>
                <a:ea typeface="Noto Sans JP"/>
              </a:rPr>
              <a:t>→ 5 ページ</a:t>
            </a:r>
          </a:p>
        </p:txBody>
      </p:sp>
      <p:sp>
        <p:nvSpPr>
          <p:cNvPr id="37" name="Merge 36"/>
          <p:cNvSpPr/>
          <p:nvPr/>
        </p:nvSpPr>
        <p:spPr>
          <a:xfrm>
            <a:off x="3799331" y="2052828"/>
            <a:ext cx="201168" cy="91440"/>
          </a:xfrm>
          <a:prstGeom prst="flowChartMerg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10896" y="2121408"/>
            <a:ext cx="7178040" cy="420624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l"/>
            <a:r>
              <a:rPr sz="1400" b="0">
                <a:solidFill>
                  <a:srgbClr val="595959"/>
                </a:solidFill>
                <a:latin typeface="Noto Sans JP"/>
                <a:ea typeface="Noto Sans JP"/>
              </a:rPr>
              <a:t>モデル：</a:t>
            </a:r>
            <a:r>
              <a:rPr sz="1400" b="0">
                <a:solidFill>
                  <a:srgbClr val="262626"/>
                </a:solidFill>
                <a:latin typeface="Noto Sans JP"/>
                <a:ea typeface="Noto Sans JP"/>
              </a:rPr>
              <a:t>13 モデルの予測を、2 段目の LightGBM で混ぜる（stacking）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0375" y="2121408"/>
            <a:ext cx="1280160" cy="420624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Noto Sans JP"/>
                <a:ea typeface="Noto Sans JP"/>
              </a:rPr>
              <a:t>→ 6 ページ</a:t>
            </a:r>
          </a:p>
        </p:txBody>
      </p:sp>
      <p:sp>
        <p:nvSpPr>
          <p:cNvPr id="40" name="Merge 39"/>
          <p:cNvSpPr/>
          <p:nvPr/>
        </p:nvSpPr>
        <p:spPr>
          <a:xfrm>
            <a:off x="3799331" y="2564892"/>
            <a:ext cx="201168" cy="91440"/>
          </a:xfrm>
          <a:prstGeom prst="flowChartMerg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10896" y="2633472"/>
            <a:ext cx="7178040" cy="420624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l"/>
            <a:r>
              <a:rPr sz="1400" b="0">
                <a:solidFill>
                  <a:srgbClr val="595959"/>
                </a:solidFill>
                <a:latin typeface="Noto Sans JP"/>
                <a:ea typeface="Noto Sans JP"/>
              </a:rPr>
              <a:t>平均：</a:t>
            </a:r>
            <a:r>
              <a:rPr sz="1400" b="0">
                <a:solidFill>
                  <a:srgbClr val="262626"/>
                </a:solidFill>
                <a:latin typeface="Noto Sans JP"/>
                <a:ea typeface="Noto Sans JP"/>
              </a:rPr>
              <a:t>seed 3 つ（42・1・2）の予測を平均する</a:t>
            </a:r>
          </a:p>
        </p:txBody>
      </p:sp>
      <p:sp>
        <p:nvSpPr>
          <p:cNvPr id="42" name="Merge 41"/>
          <p:cNvSpPr/>
          <p:nvPr/>
        </p:nvSpPr>
        <p:spPr>
          <a:xfrm>
            <a:off x="3799331" y="3076956"/>
            <a:ext cx="201168" cy="91440"/>
          </a:xfrm>
          <a:prstGeom prst="flowChartMerg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10896" y="3145536"/>
            <a:ext cx="7178040" cy="420624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l"/>
            <a:r>
              <a:rPr sz="1400" b="0">
                <a:solidFill>
                  <a:srgbClr val="595959"/>
                </a:solidFill>
                <a:latin typeface="Noto Sans JP"/>
                <a:ea typeface="Noto Sans JP"/>
              </a:rPr>
              <a:t>補正：</a:t>
            </a:r>
            <a:r>
              <a:rPr sz="1400" b="0">
                <a:solidFill>
                  <a:srgbClr val="262626"/>
                </a:solidFill>
                <a:latin typeface="Noto Sans JP"/>
                <a:ea typeface="Noto Sans JP"/>
              </a:rPr>
              <a:t>LB probing で 7〜9 月のずれを測り、test 全体を 0.33% 下げる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0375" y="3145536"/>
            <a:ext cx="1280160" cy="420624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Noto Sans JP"/>
                <a:ea typeface="Noto Sans JP"/>
              </a:rPr>
              <a:t>→ 12 ページ</a:t>
            </a:r>
          </a:p>
        </p:txBody>
      </p:sp>
      <p:sp>
        <p:nvSpPr>
          <p:cNvPr id="45" name="Merge 44"/>
          <p:cNvSpPr/>
          <p:nvPr/>
        </p:nvSpPr>
        <p:spPr>
          <a:xfrm>
            <a:off x="3799331" y="3589020"/>
            <a:ext cx="201168" cy="91440"/>
          </a:xfrm>
          <a:prstGeom prst="flowChartMerg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10896" y="3657600"/>
            <a:ext cx="7178040" cy="420624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l"/>
            <a:r>
              <a:rPr sz="1400" b="0">
                <a:solidFill>
                  <a:srgbClr val="595959"/>
                </a:solidFill>
                <a:latin typeface="Noto Sans JP"/>
                <a:ea typeface="Noto Sans JP"/>
              </a:rPr>
              <a:t>結果：</a:t>
            </a:r>
            <a:r>
              <a:rPr sz="1400" b="0">
                <a:solidFill>
                  <a:srgbClr val="262626"/>
                </a:solidFill>
                <a:latin typeface="Noto Sans JP"/>
                <a:ea typeface="Noto Sans JP"/>
              </a:rPr>
              <a:t>Public LB 0.18571 ／ Private LB 0.19786 ／ CV 0.18604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" y="4133087"/>
            <a:ext cx="8522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Noto Sans JP"/>
                <a:ea typeface="Noto Sans JP"/>
              </a:rPr>
              <a:t>重み付け：成約価格情報の行（train の 45%、test の 67%）を 1.5 倍にする</a:t>
            </a:r>
          </a:p>
          <a:p>
            <a:r>
              <a:rPr sz="1400" b="0">
                <a:solidFill>
                  <a:srgbClr val="262626"/>
                </a:solidFill>
                <a:latin typeface="Noto Sans JP"/>
                <a:ea typeface="Noto Sans JP"/>
              </a:rPr>
              <a:t>検証：時系列で 3 fold に分け、それより前で学習し直後の 3 四半期を当てる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896" y="4663440"/>
            <a:ext cx="8522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Noto Sans JP"/>
                <a:ea typeface="Noto Sans JP"/>
              </a:rPr>
              <a:t>注：stacking は複数モデルの予測を別のモデルで組み合わせること。TE は target encoding。CV は seed 3 つの平均</a:t>
            </a:r>
          </a:p>
          <a:p>
            <a:r>
              <a:rPr sz="900" b="0">
                <a:solidFill>
                  <a:srgbClr val="595959"/>
                </a:solidFill>
                <a:latin typeface="Noto Sans JP"/>
                <a:ea typeface="Noto Sans JP"/>
              </a:rPr>
              <a:t>データ：国土交通省 不動産情報ライブラリの取引価格・成約価格情報（東京都の中古マンション等）を講義用に加工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都心 5 区の相場は 6 年で 1.62 倍に上がった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1051560"/>
            <a:ext cx="4434840" cy="3657600"/>
          </a:xfrm>
        </p:spPr>
        <p:txBody>
          <a:bodyPr/>
          <a:lstStyle/>
          <a:p>
            <a:pPr marL="2286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600" b="0"/>
              <a:t>目的変数：log(㎡単価) − log(相場上昇)</a:t>
            </a:r>
          </a:p>
          <a:p>
            <a:pPr marL="457200" lvl="1" indent="-228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200" b="0"/>
              <a:t>相場上昇：25年4〜6月に対する同条件の価格の倍率</a:t>
            </a:r>
          </a:p>
          <a:p>
            <a:pPr marL="685800" lvl="2" indent="-228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–"/>
            </a:pPr>
            <a:r>
              <a:rPr lang="ja-JP" sz="1150" b="0"/>
              <a:t>① 市区町村を㎡単価で 5 つのグループに分割</a:t>
            </a:r>
          </a:p>
          <a:p>
            <a:pPr marL="685800" lvl="2" indent="-228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–"/>
            </a:pPr>
            <a:r>
              <a:rPr lang="ja-JP" sz="1150" b="0"/>
              <a:t>② 各取引が、同条件の平均価格の何倍かを出す</a:t>
            </a:r>
          </a:p>
          <a:p>
            <a:pPr marL="685800" lvl="2" indent="-228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–"/>
            </a:pPr>
            <a:r>
              <a:rPr lang="ja-JP" sz="1150" b="0"/>
              <a:t>③ ②を四半期ごとに平均し、25年4〜6月を 1 に</a:t>
            </a:r>
          </a:p>
          <a:p>
            <a:pPr marL="685800" lvl="2" indent="-228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–"/>
            </a:pPr>
            <a:r>
              <a:rPr lang="ja-JP" sz="1150" b="0"/>
              <a:t>条件：「価格情報区分・地区・面積帯・築年数帯」</a:t>
            </a:r>
          </a:p>
          <a:p>
            <a:pPr marL="457200" lvl="1" indent="-228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200" b="0"/>
              <a:t>引く理由：決定木は学習期間より先の上昇を表せない</a:t>
            </a:r>
          </a:p>
          <a:p>
            <a:pPr marL="457200" lvl="1" indent="-228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200" b="0"/>
              <a:t>test の時期は、直近 4 四半期の傾きで延ばす</a:t>
            </a:r>
          </a:p>
          <a:p>
            <a:pPr marL="457200" lvl="1" indent="-228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200" b="0"/>
              <a:t>相場上昇も、fold ごとに学習データだけで作る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09160" y="1325880"/>
          <a:ext cx="4160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09160" y="438912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Noto Sans JP"/>
              </a:rPr>
              <a:t>test の時期（25年7月〜26年3月）は、直近 4 四半期の傾きで延ばした</a:t>
            </a:r>
          </a:p>
          <a:p>
            <a:r>
              <a:rPr sz="900">
                <a:solidFill>
                  <a:srgbClr val="595959"/>
                </a:solidFill>
                <a:latin typeface="Noto Sans JP"/>
              </a:rPr>
              <a:t>グループ 5：中央・千代田・新宿・渋谷・港 ／ グループ 1：多摩地域など 29</a:t>
            </a:r>
          </a:p>
          <a:p>
            <a:r>
              <a:rPr sz="900">
                <a:solidFill>
                  <a:srgbClr val="595959"/>
                </a:solidFill>
                <a:latin typeface="Noto Sans JP"/>
              </a:rPr>
              <a:t>値は train だけから作ったもの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00600" y="1024128"/>
            <a:ext cx="274320" cy="0"/>
          </a:xfrm>
          <a:prstGeom prst="line">
            <a:avLst/>
          </a:prstGeom>
          <a:ln w="28575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0" y="914400"/>
            <a:ext cx="1737360" cy="21945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262626"/>
                </a:solidFill>
                <a:latin typeface="Noto Sans JP"/>
              </a:rPr>
              <a:t>都心 5 区（グループ 5）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0" y="1024128"/>
            <a:ext cx="274320" cy="0"/>
          </a:xfrm>
          <a:prstGeom prst="line">
            <a:avLst/>
          </a:prstGeom>
          <a:ln w="222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78040" y="914400"/>
            <a:ext cx="1737360" cy="21945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262626"/>
                </a:solidFill>
                <a:latin typeface="Noto Sans JP"/>
              </a:rPr>
              <a:t>全体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00600" y="1225296"/>
            <a:ext cx="274320" cy="0"/>
          </a:xfrm>
          <a:prstGeom prst="line">
            <a:avLst/>
          </a:prstGeom>
          <a:ln w="222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0640" y="1115568"/>
            <a:ext cx="1737360" cy="21945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262626"/>
                </a:solidFill>
                <a:latin typeface="Noto Sans JP"/>
              </a:rPr>
              <a:t>多摩地域など（グループ 1）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0" y="1225296"/>
            <a:ext cx="274320" cy="0"/>
          </a:xfrm>
          <a:prstGeom prst="line">
            <a:avLst/>
          </a:prstGeom>
          <a:ln w="1905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78040" y="1115568"/>
            <a:ext cx="1737360" cy="21945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262626"/>
                </a:solidFill>
                <a:latin typeface="Noto Sans JP"/>
              </a:rPr>
              <a:t>破線：test の時期に延ばした値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前処理と、価格を使わない集計を中心にした特徴量</a:t>
            </a:r>
            <a:endParaRPr/>
          </a:p>
        </p:txBody>
      </p:sp>
      <p:graphicFrame>
        <p:nvGraphicFramePr>
          <p:cNvPr id="38" name="Google Shape;38;p7"/>
          <p:cNvGraphicFramePr/>
          <p:nvPr>
            <p:extLst>
              <p:ext uri="{D42A27DB-BD31-4B8C-83A1-F6EECF244321}">
                <p14:modId xmlns:p14="http://schemas.microsoft.com/office/powerpoint/2010/main" val="761143006"/>
              </p:ext>
            </p:extLst>
          </p:nvPr>
        </p:nvGraphicFramePr>
        <p:xfrm>
          <a:off x="310896" y="1005840"/>
          <a:ext cx="8522208" cy="3169920"/>
        </p:xfrm>
        <a:graphic>
          <a:graphicData uri="http://schemas.openxmlformats.org/drawingml/2006/table">
            <a:tbl>
              <a:tblPr>
                <a:noFill/>
                <a:tableStyleId>{A572F1EB-1AF0-43FA-8C39-57FBE8F6C2E6}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71678708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350" b="1">
                          <a:latin typeface="Noto Sans JP"/>
                          <a:ea typeface="Noto Sans JP"/>
                          <a:cs typeface="Noto Sans JP"/>
                        </a:rPr>
                        <a:t>まとまり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350" b="1">
                          <a:latin typeface="Noto Sans JP"/>
                          <a:ea typeface="Noto Sans JP"/>
                          <a:cs typeface="Noto Sans JP"/>
                        </a:rPr>
                        <a:t>種類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350" b="1">
                          <a:latin typeface="Noto Sans JP"/>
                          <a:ea typeface="Noto Sans JP"/>
                          <a:cs typeface="Noto Sans JP"/>
                        </a:rPr>
                        <a:t>中身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350" b="1">
                          <a:latin typeface="Noto Sans JP"/>
                          <a:ea typeface="Noto Sans JP"/>
                          <a:cs typeface="Noto Sans JP"/>
                        </a:rPr>
                        <a:t>理由・注意</a:t>
                      </a:r>
                    </a:p>
                  </a:txBody>
                  <a:tcPr marL="91425" marR="91425"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前処理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文字列 → 数値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面積「2,000㎡以上」→ 2000、建築年「戦前」→ 1945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駅距離などの範囲「30分〜60分」→ 中央値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大小を比べられるようにする</a:t>
                      </a:r>
                    </a:p>
                  </a:txBody>
                  <a:tcPr marL="91425" marR="91425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取引時期・欠損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取引時期 → 2019 年 1〜3 月からの経過四半期。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欠損は NaN のまま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LightGBM は欠損を扱える</a:t>
                      </a:r>
                    </a:p>
                  </a:txBody>
                  <a:tcPr marL="91425" marR="91425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rowSpan="5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価格を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使わない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特徴量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元の列</a:t>
                      </a:r>
                      <a:r>
                        <a:rPr lang="ja-JP" altLang="en-US" sz="1150" b="0">
                          <a:latin typeface="Noto Sans JP"/>
                          <a:ea typeface="Noto Sans JP"/>
                          <a:cs typeface="Noto Sans JP"/>
                        </a:rPr>
                        <a:t>のまま</a:t>
                      </a:r>
                      <a:endParaRPr lang="ja-JP" sz="1150" b="0">
                        <a:latin typeface="Noto Sans JP"/>
                        <a:ea typeface="Noto Sans JP"/>
                        <a:cs typeface="Noto Sans JP"/>
                      </a:endParaRP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築年数・面積・駅距離・建ぺい率・容積率と、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市区町村・地区・駅・間取り・構造などのカテゴリ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同じ区には train と test で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同じ番号を振る</a:t>
                      </a:r>
                    </a:p>
                  </a:txBody>
                  <a:tcPr marL="91425" marR="91425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solidFill>
                            <a:srgbClr val="FF000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位置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地区の緯度・経度と、主要 7 駅（東京・新宿・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渋谷・池袋・品川・六本木・虎ノ門）までの距離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外部データ（下の注）</a:t>
                      </a:r>
                    </a:p>
                  </a:txBody>
                  <a:tcPr marL="91425" marR="91425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solidFill>
                            <a:srgbClr val="FF000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地区・駅の集計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件数と、平均の築年数・面積・駅距離との差</a:t>
                      </a:r>
                    </a:p>
                  </a:txBody>
                  <a:tcPr marL="91425" marR="91425" marT="27432" marB="27432" anchor="ctr"/>
                </a:tc>
                <a:tc row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価格を使わないので、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fold に関係なく作れる</a:t>
                      </a:r>
                    </a:p>
                  </a:txBody>
                  <a:tcPr marL="91425" marR="91425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solidFill>
                            <a:srgbClr val="FF000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建物の集計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同じ建物の行の件数・面積の幅・間取りの種類数</a:t>
                      </a:r>
                    </a:p>
                  </a:txBody>
                  <a:tcPr marL="91425" marR="91425" marT="27432" marB="27432" anchor="ctr"/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solidFill>
                            <a:srgbClr val="FF000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間取り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部屋数に換算した、一部屋あたりの面積</a:t>
                      </a:r>
                    </a:p>
                  </a:txBody>
                  <a:tcPr marL="91425" marR="91425" marT="27432" marB="27432" anchor="ctr"/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価格を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使う特徴量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solidFill>
                            <a:srgbClr val="FF000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TE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地区・駅・建物ごとの価格の平均。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1 つ上の単位の平均へ、件数に応じて寄せる</a:t>
                      </a:r>
                    </a:p>
                  </a:txBody>
                  <a:tcPr marL="91425" marR="91425" marT="27432" marB="274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fold ごとに、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150" b="0">
                          <a:latin typeface="Noto Sans JP"/>
                          <a:ea typeface="Noto Sans JP"/>
                          <a:cs typeface="Noto Sans JP"/>
                        </a:rPr>
                        <a:t>学習データだけで作る</a:t>
                      </a:r>
                    </a:p>
                  </a:txBody>
                  <a:tcPr marL="91425" marR="91425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310896" y="4422648"/>
            <a:ext cx="8522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ja-JP" sz="1000" b="0">
                <a:latin typeface="Noto Sans JP"/>
                <a:ea typeface="Noto Sans JP"/>
                <a:cs typeface="Noto Sans JP"/>
              </a:rPr>
              <a:t>注：外部データは、国土交通省の位置参照情報（2024 年版、基準日 2024-07-26）と国土数値情報の駅別乗降客数（2024 年度版）。</a:t>
            </a:r>
          </a:p>
          <a:p>
            <a:pPr marL="0" indent="0" algn="l">
              <a:buNone/>
            </a:pPr>
            <a:r>
              <a:rPr lang="ja-JP" sz="1000" b="0">
                <a:latin typeface="Noto Sans JP"/>
                <a:ea typeface="Noto Sans JP"/>
                <a:cs typeface="Noto Sans JP"/>
              </a:rPr>
              <a:t>　 どちらも test の期間（2025 年 7 月〜）より前の時点のデータ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土台は 4 モデルの平均、2 段目はずれだけを学ぶ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7720" y="960120"/>
            <a:ext cx="4343400" cy="3749039"/>
          </a:xfrm>
        </p:spPr>
        <p:txBody>
          <a:bodyPr/>
          <a:lstStyle/>
          <a:p>
            <a:pPr marL="2286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300" b="0"/>
              <a:t>2 段目の入力</a:t>
            </a:r>
          </a:p>
          <a:p>
            <a:pPr marL="457200" lvl="1" indent="-2286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各モデルの予測と土台の差（13 個）</a:t>
            </a:r>
          </a:p>
          <a:p>
            <a:pPr marL="457200" lvl="1" indent="-2286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面積・築年数・何四半期先か・価格帯・価格情報区分</a:t>
            </a:r>
          </a:p>
          <a:p>
            <a:pPr marL="2286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300" b="0"/>
              <a:t>分け方の理由</a:t>
            </a:r>
          </a:p>
          <a:p>
            <a:pPr marL="457200" lvl="1" indent="-2286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一部の行で学んだ 5 モデル：ほかの行の予測が弱く、平均に入れると悪くなる</a:t>
            </a:r>
          </a:p>
          <a:p>
            <a:pPr marL="457200" lvl="1" indent="-2286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土台の値は入れない：入れると isotonic と同じ種類の補正になる</a:t>
            </a:r>
          </a:p>
          <a:p>
            <a:pPr marL="457200" lvl="1" indent="-2286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ずれの平均を引く：全体の水準のずれは、fold ごとに向きが違って当てにならない</a:t>
            </a:r>
          </a:p>
          <a:p>
            <a:pPr marL="2286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300" b="0"/>
              <a:t>2 段目の学習データ</a:t>
            </a:r>
          </a:p>
          <a:p>
            <a:pPr marL="457200" lvl="1" indent="-2286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本番：3 fold すべての検証データの予測で学習する</a:t>
            </a:r>
          </a:p>
          <a:p>
            <a:pPr marL="457200" lvl="1" indent="-2286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CV：採点する fold より前の fold の予測だけで学習する（10/19 にリークを直した）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05840"/>
            <a:ext cx="4160520" cy="384048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Noto Sans JP"/>
              </a:rPr>
              <a:t>1 段目：13 モデルを学習し、それぞれ予測する</a:t>
            </a:r>
          </a:p>
        </p:txBody>
      </p:sp>
      <p:sp>
        <p:nvSpPr>
          <p:cNvPr id="5" name="Merge 4"/>
          <p:cNvSpPr/>
          <p:nvPr/>
        </p:nvSpPr>
        <p:spPr>
          <a:xfrm>
            <a:off x="1223010" y="1426464"/>
            <a:ext cx="201168" cy="91440"/>
          </a:xfrm>
          <a:prstGeom prst="flowChartMerg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Merge 5"/>
          <p:cNvSpPr/>
          <p:nvPr/>
        </p:nvSpPr>
        <p:spPr>
          <a:xfrm>
            <a:off x="3358134" y="1426464"/>
            <a:ext cx="201168" cy="91440"/>
          </a:xfrm>
          <a:prstGeom prst="flowChartMerg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0896" y="1554480"/>
            <a:ext cx="2025395" cy="1280160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Noto Sans JP"/>
              </a:rPr>
              <a:t>土台に入れる 4 モデル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Noto Sans JP"/>
              </a:rPr>
              <a:t>LightGBM（㎡単価）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Noto Sans JP"/>
              </a:rPr>
              <a:t>LightGBM（総額）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Noto Sans JP"/>
              </a:rPr>
              <a:t>CatBoost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Noto Sans JP"/>
              </a:rPr>
              <a:t>線形回帰＋LightGBM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6020" y="1554480"/>
            <a:ext cx="2025395" cy="1280160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Noto Sans JP"/>
              </a:rPr>
              <a:t>土台に入れない 9 モデル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Noto Sans JP"/>
              </a:rPr>
              <a:t>一部の行の LightGBM 5 つ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Noto Sans JP"/>
              </a:rPr>
              <a:t>ヘドニック回帰 1 つ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Noto Sans JP"/>
              </a:rPr>
              <a:t>TE 付き LightGBM 3 つ</a:t>
            </a:r>
          </a:p>
        </p:txBody>
      </p:sp>
      <p:sp>
        <p:nvSpPr>
          <p:cNvPr id="9" name="Merge 8"/>
          <p:cNvSpPr/>
          <p:nvPr/>
        </p:nvSpPr>
        <p:spPr>
          <a:xfrm>
            <a:off x="1223010" y="2871216"/>
            <a:ext cx="201168" cy="91440"/>
          </a:xfrm>
          <a:prstGeom prst="flowChartMerg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erge 9"/>
          <p:cNvSpPr/>
          <p:nvPr/>
        </p:nvSpPr>
        <p:spPr>
          <a:xfrm>
            <a:off x="3358134" y="2871216"/>
            <a:ext cx="201168" cy="91440"/>
          </a:xfrm>
          <a:prstGeom prst="flowChartMerg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0896" y="2999232"/>
            <a:ext cx="2025395" cy="566928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Noto Sans JP"/>
              </a:rPr>
              <a:t>土台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Noto Sans JP"/>
              </a:rPr>
              <a:t>4 モデルの予測の平均（log）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46020" y="2999232"/>
            <a:ext cx="2025395" cy="566928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Noto Sans JP"/>
              </a:rPr>
              <a:t>2 段目：LightGBM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Noto Sans JP"/>
              </a:rPr>
              <a:t>土台からのずれを予測する</a:t>
            </a:r>
          </a:p>
        </p:txBody>
      </p:sp>
      <p:sp>
        <p:nvSpPr>
          <p:cNvPr id="13" name="Merge 12"/>
          <p:cNvSpPr/>
          <p:nvPr/>
        </p:nvSpPr>
        <p:spPr>
          <a:xfrm>
            <a:off x="1223010" y="3602736"/>
            <a:ext cx="201168" cy="91440"/>
          </a:xfrm>
          <a:prstGeom prst="flowChartMerg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Merge 13"/>
          <p:cNvSpPr/>
          <p:nvPr/>
        </p:nvSpPr>
        <p:spPr>
          <a:xfrm>
            <a:off x="3358134" y="3602736"/>
            <a:ext cx="201168" cy="91440"/>
          </a:xfrm>
          <a:prstGeom prst="flowChartMerg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0896" y="3730752"/>
            <a:ext cx="4160520" cy="502920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Noto Sans JP"/>
              </a:rPr>
              <a:t>最終の予測（log）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Noto Sans JP"/>
              </a:rPr>
              <a:t>土台 ＋ ずれ − ずれの平均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4343400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Noto Sans JP"/>
              </a:rPr>
              <a:t>一部の行：築 30 年超・30㎡以下・成約価格・取引価格・23 区外</a:t>
            </a:r>
          </a:p>
          <a:p>
            <a:r>
              <a:rPr sz="900" b="0">
                <a:solidFill>
                  <a:srgbClr val="595959"/>
                </a:solidFill>
                <a:latin typeface="Noto Sans JP"/>
              </a:rPr>
              <a:t>価格帯：市区町村を㎡単価で分けた 5 つのグループ（4 ページ）</a:t>
            </a:r>
          </a:p>
          <a:p>
            <a:r>
              <a:rPr sz="900" b="0">
                <a:solidFill>
                  <a:srgbClr val="595959"/>
                </a:solidFill>
                <a:latin typeface="Noto Sans JP"/>
              </a:rPr>
              <a:t>ずれ・土台は log で足し引きし、最後に exp して価格に戻す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Public LB の改善は前半が大きく、提出 10 以降は頭打ち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" y="4480560"/>
            <a:ext cx="85222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ja-JP" sz="1050" b="0">
                <a:latin typeface="Noto Sans JP"/>
                <a:ea typeface="Noto Sans JP"/>
                <a:cs typeface="Noto Sans JP"/>
              </a:rPr>
              <a:t>試してやめたもの：isotonic 回帰による予測の補正（提出 4：CV は 0.20004 → 0.19727 に良くなったが、Public LB は 0.20059 に悪化）</a:t>
            </a:r>
          </a:p>
          <a:p>
            <a:pPr marL="0" indent="0" algn="l">
              <a:buNone/>
            </a:pPr>
            <a:r>
              <a:rPr lang="en-US" altLang="ja-JP" sz="1050" b="0" dirty="0">
                <a:latin typeface="Noto Sans JP"/>
                <a:ea typeface="Noto Sans JP"/>
                <a:cs typeface="Noto Sans JP"/>
              </a:rPr>
              <a:t>※</a:t>
            </a:r>
            <a:r>
              <a:rPr lang="ja-JP" sz="1050" b="0">
                <a:latin typeface="Noto Sans JP"/>
                <a:ea typeface="Noto Sans JP"/>
                <a:cs typeface="Noto Sans JP"/>
              </a:rPr>
              <a:t>あとで分かった Private LB では 0.21876 → 0.21251 と良くなっていた（12 ページ：Public は 7〜9 月、Private は 10〜3 月の行で採点）</a:t>
            </a:r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310896" y="1005840"/>
          <a:ext cx="8522208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310896" y="4160520"/>
            <a:ext cx="85222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595959"/>
                </a:solidFill>
                <a:latin typeface="Noto Sans JP"/>
              </a:rPr>
              <a:t>※ 相場上昇を引く効果は学習期間より先の時期に出るので、7〜9 </a:t>
            </a:r>
            <a:r>
              <a:rPr sz="1000" dirty="0" err="1">
                <a:solidFill>
                  <a:srgbClr val="595959"/>
                </a:solidFill>
                <a:latin typeface="Noto Sans JP"/>
              </a:rPr>
              <a:t>月だけで採点する</a:t>
            </a:r>
            <a:r>
              <a:rPr sz="1000" dirty="0">
                <a:solidFill>
                  <a:srgbClr val="595959"/>
                </a:solidFill>
                <a:latin typeface="Noto Sans JP"/>
              </a:rPr>
              <a:t> Public LB </a:t>
            </a:r>
            <a:r>
              <a:rPr sz="1000" dirty="0" err="1">
                <a:solidFill>
                  <a:srgbClr val="595959"/>
                </a:solidFill>
                <a:latin typeface="Noto Sans JP"/>
              </a:rPr>
              <a:t>には一部しか表れない</a:t>
            </a:r>
            <a:endParaRPr sz="1000" dirty="0">
              <a:solidFill>
                <a:srgbClr val="595959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4 人の分担と、提出ファイルを再現できる仕組み</a:t>
            </a: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311700" y="914925"/>
            <a:ext cx="8520600" cy="35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500" b="1"/>
              <a:t>各自の取り組みと、最終モデルへの貢献</a:t>
            </a:r>
          </a:p>
          <a:p>
            <a:pPr marL="457200" lvl="1" indent="-228600" algn="l">
              <a:lnSpc>
                <a:spcPct val="13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400" b="0"/>
              <a:t>南條：「線形回帰＋LightGBM」と、isotonic 回帰による予測の補正を作った</a:t>
            </a:r>
          </a:p>
          <a:p>
            <a:pPr marL="457200" lvl="1" indent="-228600" algn="l">
              <a:lnSpc>
                <a:spcPct val="13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400" b="0"/>
              <a:t>大久保：相場上昇を引く目的変数、成約価格情報の重み、TE の階層的な平滑化を入れた</a:t>
            </a:r>
          </a:p>
          <a:p>
            <a:pPr marL="457200" lvl="1" indent="-228600" algn="l">
              <a:lnSpc>
                <a:spcPct val="13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400" b="0"/>
              <a:t>藤瀬：実験の仕組み、時系列 CV、地区・駅の集計、stacking、LB probing を作った</a:t>
            </a:r>
          </a:p>
          <a:p>
            <a:pPr marL="457200" lvl="1" indent="-228600" algn="l">
              <a:lnSpc>
                <a:spcPct val="13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400" b="0"/>
              <a:t>小林：㎡単価の目的変数を入れ、間取りの分解・地価公示・誤差の分析を試した</a:t>
            </a:r>
          </a:p>
          <a:p>
            <a:pPr marL="228600" lvl="0" indent="-22860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500" b="1"/>
              <a:t>再現性</a:t>
            </a:r>
          </a:p>
          <a:p>
            <a:pPr marL="457200" lvl="1" indent="-228600" algn="l">
              <a:lnSpc>
                <a:spcPct val="13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400" b="0"/>
              <a:t>seed は 42・1・2 に固定</a:t>
            </a:r>
            <a:endParaRPr lang="en-US" altLang="ja-JP" sz="1400" b="0" dirty="0"/>
          </a:p>
          <a:p>
            <a:pPr marL="457200" lvl="1" indent="-228600">
              <a:lnSpc>
                <a:spcPct val="135000"/>
              </a:lnSpc>
              <a:spcBef>
                <a:spcPts val="100"/>
              </a:spcBef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altLang="en-US" sz="1400" b="0"/>
              <a:t>ライブラリの版は </a:t>
            </a:r>
            <a:r>
              <a:rPr lang="en-US" altLang="ja-JP" sz="1400" b="0" dirty="0" err="1"/>
              <a:t>uv.lock</a:t>
            </a:r>
            <a:r>
              <a:rPr lang="en-US" altLang="ja-JP" sz="1400" b="0" dirty="0"/>
              <a:t> </a:t>
            </a:r>
            <a:r>
              <a:rPr lang="ja-JP" altLang="en-US" sz="1400" b="0"/>
              <a:t>で固定し、全員が同じ環境で実行する</a:t>
            </a:r>
            <a:endParaRPr lang="ja-JP" sz="1400" b="0"/>
          </a:p>
          <a:p>
            <a:pPr marL="457200" lvl="1" indent="-228600" algn="l">
              <a:lnSpc>
                <a:spcPct val="13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en-US" altLang="ja-JP" sz="1400" b="0" dirty="0"/>
              <a:t>seed 平均を作成するスクリプトと、LB probing による補正を適用するスクリプトも GitHub で管理し、全員が提出ファイルまで再現できる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試した手法とスコアの推移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連動した</a:t>
            </a:r>
            <a:r>
              <a:rPr lang="ja" dirty="0"/>
              <a:t>CV と Public LB</a:t>
            </a:r>
            <a:endParaRPr dirty="0"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777240"/>
            <a:ext cx="8520600" cy="1051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200" b="0"/>
              <a:t>4 を除くと、CV と Public LB は同じ向きに動いた（4 は Public だけ逆）</a:t>
            </a:r>
          </a:p>
          <a:p>
            <a:pPr marL="228600" lvl="0" indent="-228600">
              <a:buClr>
                <a:srgbClr val="000000"/>
              </a:buClr>
              <a:buSzPct val="80000"/>
              <a:buFont typeface="Arial"/>
              <a:buChar char="●"/>
            </a:pPr>
            <a:r>
              <a:rPr lang="en-US" altLang="ja-JP" sz="1200" b="0" dirty="0"/>
              <a:t>※ 12 </a:t>
            </a:r>
            <a:r>
              <a:rPr lang="ja-JP" altLang="en-US" sz="1200" b="0"/>
              <a:t>の </a:t>
            </a:r>
            <a:r>
              <a:rPr lang="en-US" altLang="ja-JP" sz="1200" b="0" dirty="0"/>
              <a:t>CV</a:t>
            </a:r>
            <a:r>
              <a:rPr lang="ja-JP" altLang="en-US" sz="1200" b="0"/>
              <a:t>（白抜き）はリークを直した後の値で高く出る：同じ測り方なら </a:t>
            </a:r>
            <a:r>
              <a:rPr lang="en-US" altLang="ja-JP" sz="1200" b="0" dirty="0"/>
              <a:t>10 </a:t>
            </a:r>
            <a:r>
              <a:rPr lang="ja-JP" altLang="en-US" sz="1200" b="0"/>
              <a:t>とほぼ同じ（</a:t>
            </a:r>
            <a:r>
              <a:rPr lang="en-US" altLang="ja-JP" sz="1200" b="0" dirty="0"/>
              <a:t>0.18614 → 0.18619</a:t>
            </a:r>
            <a:r>
              <a:rPr lang="ja-JP" altLang="en-US" sz="1200" b="0"/>
              <a:t>）</a:t>
            </a:r>
            <a:endParaRPr lang="en-US" altLang="ja-JP" sz="1200" b="0" dirty="0"/>
          </a:p>
          <a:p>
            <a:pPr marL="228600" lvl="0" indent="-228600"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200" b="0"/>
              <a:t>Private LB（破線）は一度も悪化せず、12 が 0.19786：Public より先の 10〜3 月なので 0.012 ほど大きい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492929"/>
              </p:ext>
            </p:extLst>
          </p:nvPr>
        </p:nvGraphicFramePr>
        <p:xfrm>
          <a:off x="135627" y="1783081"/>
          <a:ext cx="54864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656220" y="1783081"/>
            <a:ext cx="3141886" cy="32505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LightGBM のベースライン</a:t>
            </a:r>
          </a:p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カテゴリの扱いと学習率の調整</a:t>
            </a:r>
          </a:p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損失関数を Huber 損失に変更</a:t>
            </a:r>
          </a:p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isotonic 回帰で予測を補正（やめた）</a:t>
            </a:r>
          </a:p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目的変数を㎡単価にし、相場の伸びを引く</a:t>
            </a:r>
          </a:p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主要駅までの距離、地区の緯度経度</a:t>
            </a:r>
          </a:p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地区・駅の平均（築年数など）との差</a:t>
            </a:r>
          </a:p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4 モデルの単純平均</a:t>
            </a:r>
          </a:p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6 モデルの stacking、建物ごとの集計など</a:t>
            </a:r>
          </a:p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13 モデル、TE、seed 平均</a:t>
            </a:r>
          </a:p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LB probing：10 の 7〜9 月だけ 1% 下げた</a:t>
            </a:r>
          </a:p>
          <a:p>
            <a:pPr marL="274320" indent="-274320">
              <a:lnSpc>
                <a:spcPct val="150000"/>
              </a:lnSpc>
              <a:spcBef>
                <a:spcPts val="100"/>
              </a:spcBef>
              <a:buFont typeface="Arial"/>
              <a:buAutoNum type="arabicPeriod"/>
            </a:pPr>
            <a:r>
              <a:rPr lang="ja-JP" sz="1100" b="0">
                <a:latin typeface="Noto Sans JP"/>
                <a:ea typeface="Noto Sans JP"/>
                <a:cs typeface="Noto Sans JP"/>
              </a:rPr>
              <a:t>最終：10 に 2 つの改良と補正 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dirty="0"/>
              <a:t>単独では提出しなかった実験の改善幅</a:t>
            </a:r>
            <a:endParaRPr dirty="0"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647550"/>
            <a:ext cx="8520600" cy="1051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00" b="0"/>
              <a:t>単独では提出していない実験（Public・Private の値はない）：スコアは「変える前の CV → 変えた後の CV」</a:t>
            </a:r>
          </a:p>
          <a:p>
            <a:pPr marL="2286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00" b="0"/>
              <a:t>※ はリークを直した後の CV：直した後の CV は 0.0006〜0.0008 大きい</a:t>
            </a:r>
          </a:p>
          <a:p>
            <a:pPr marL="2286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00" b="0"/>
              <a:t>両方入れた最終：seed 42 どうし（藤瀬の PC）では 0.18614 → 0.18619 ※ で、seed による揺れ（0.0003 ほど）の範囲</a:t>
            </a:r>
          </a:p>
          <a:p>
            <a:pPr marL="2286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00" b="0"/>
              <a:t>採用した理由：土台だけ（2 段目なし）の CV が seed 3 つすべてで良くなった（平均 0.18799 → 0.18783）</a:t>
            </a:r>
          </a:p>
        </p:txBody>
      </p:sp>
      <p:graphicFrame>
        <p:nvGraphicFramePr>
          <p:cNvPr id="38" name="Google Shape;38;p7"/>
          <p:cNvGraphicFramePr/>
          <p:nvPr/>
        </p:nvGraphicFramePr>
        <p:xfrm>
          <a:off x="310896" y="1828800"/>
          <a:ext cx="8522207" cy="3072384"/>
        </p:xfrm>
        <a:graphic>
          <a:graphicData uri="http://schemas.openxmlformats.org/drawingml/2006/table">
            <a:tbl>
              <a:tblPr>
                <a:noFill/>
                <a:tableStyleId>{A572F1EB-1AF0-43FA-8C39-57FBE8F6C2E6}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300" b="1">
                          <a:latin typeface="Noto Sans JP"/>
                          <a:ea typeface="Noto Sans JP"/>
                          <a:cs typeface="Noto Sans JP"/>
                        </a:rPr>
                        <a:t>試したこと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300" b="1">
                          <a:latin typeface="Noto Sans JP"/>
                          <a:ea typeface="Noto Sans JP"/>
                          <a:cs typeface="Noto Sans JP"/>
                        </a:rPr>
                        <a:t>（手法・モデル・特徴量）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300" b="1">
                          <a:latin typeface="Noto Sans JP"/>
                          <a:ea typeface="Noto Sans JP"/>
                          <a:cs typeface="Noto Sans JP"/>
                        </a:rPr>
                        <a:t>手元の検証スコア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300" b="1">
                          <a:latin typeface="Noto Sans JP"/>
                          <a:ea typeface="Noto Sans JP"/>
                          <a:cs typeface="Noto Sans JP"/>
                        </a:rPr>
                        <a:t>Public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300" b="1">
                          <a:latin typeface="Noto Sans JP"/>
                          <a:ea typeface="Noto Sans JP"/>
                          <a:cs typeface="Noto Sans JP"/>
                        </a:rPr>
                        <a:t>Private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300" b="1">
                          <a:latin typeface="Noto Sans JP"/>
                          <a:ea typeface="Noto Sans JP"/>
                          <a:cs typeface="Noto Sans JP"/>
                        </a:rPr>
                        <a:t>メモ（採用したか、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ja-JP" sz="1300" b="1">
                          <a:latin typeface="Noto Sans JP"/>
                          <a:ea typeface="Noto Sans JP"/>
                          <a:cs typeface="Noto Sans JP"/>
                        </a:rPr>
                        <a:t>ずれの理由 など）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㎡単価を目的変数にする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0.20004 → 0.19845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採用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間取りを部屋数などに分解する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0.19727 → 0.19736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不採用、isotonic 込みで測定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建物ごとの集計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0.18944 → 0.18872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採用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2 段目の入力に 5 モデルを足す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0.18765 → 0.18680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採用、TE 付き 1 つを含む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一部屋あたりの面積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0.18599 → 0.18548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採用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TE 付きのモデルを 2 つ足す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0.18628 → 0.18614 ※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採用、計 13 モデル（提出 10）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成約価格情報の重みを 1.5 倍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0.18622 → 0.18606 ※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採用、大久保の PC で比較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TE を階層的に平滑化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0.18622 → 0.18611 ※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採用、大久保の PC で比較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相場から外れた取引を外す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0.0002〜0.0018 悪化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不採用、CV が悪化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近くの地価公示の価格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0.0003〜0.0010 悪化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不採用、LightGBM だけで比較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2 段目の列 9 通り・設定 10 通り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差 0.0002 以内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25" marR="91425" marT="13716" marB="1371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100" b="0">
                          <a:latin typeface="Noto Sans JP"/>
                          <a:ea typeface="Noto Sans JP"/>
                          <a:cs typeface="Noto Sans JP"/>
                        </a:rPr>
                        <a:t>不採用、どれも効果なし</a:t>
                      </a:r>
                    </a:p>
                  </a:txBody>
                  <a:tcPr marL="91425" marR="91425" marT="13716" marB="13716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LB probing で 7〜9 月の予測が 0.33% 高いと測った</a:t>
            </a:r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4754880" y="1783080"/>
            <a:ext cx="4114800" cy="3108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250" b="0"/>
              <a:t>式：L(c)² ＝ L₀² − 2cm ＋ c²</a:t>
            </a:r>
          </a:p>
          <a:p>
            <a:pPr marL="457200" lvl="1" indent="-228600" algn="l">
              <a:lnSpc>
                <a:spcPct val="105000"/>
              </a:lnSpc>
              <a:spcBef>
                <a:spcPts val="1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c：下げた量、m：7〜9 月の予測の平均のずれ（log）</a:t>
            </a:r>
          </a:p>
          <a:p>
            <a:pPr marL="457200" lvl="1" indent="-228600" algn="l">
              <a:lnSpc>
                <a:spcPct val="105000"/>
              </a:lnSpc>
              <a:spcBef>
                <a:spcPts val="1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c が 2m より大きいと悪化するので、提出 11 の悪化の幅から m が分かる</a:t>
            </a:r>
          </a:p>
          <a:p>
            <a:pPr marL="228600" lvl="0" indent="-22860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250" b="0"/>
              <a:t>置いた仮定</a:t>
            </a:r>
          </a:p>
          <a:p>
            <a:pPr marL="457200" lvl="1" indent="-228600" algn="l">
              <a:lnSpc>
                <a:spcPct val="105000"/>
              </a:lnSpc>
              <a:spcBef>
                <a:spcPts val="1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Public は 7〜9 月の行だけで採点される</a:t>
            </a:r>
          </a:p>
          <a:p>
            <a:pPr marL="685800" lvl="2" indent="-228600" algn="l"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–"/>
            </a:pPr>
            <a:r>
              <a:rPr lang="ja-JP" sz="1050" b="0"/>
              <a:t>Public は test の約 37%、7〜9 月の行は 37.2%</a:t>
            </a:r>
          </a:p>
          <a:p>
            <a:pPr marL="685800" lvl="2" indent="-228600" algn="l"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–"/>
            </a:pPr>
            <a:r>
              <a:rPr lang="ja-JP" sz="1050" b="0"/>
              <a:t>11 と 10 の Private LB が同じ 0.19828 で、仮定どおり</a:t>
            </a:r>
          </a:p>
          <a:p>
            <a:pPr marL="457200" lvl="1" indent="-228600" algn="l">
              <a:lnSpc>
                <a:spcPct val="105000"/>
              </a:lnSpc>
              <a:spcBef>
                <a:spcPts val="1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10〜3 月の予測も同じだけ高い（確かめていない）</a:t>
            </a:r>
          </a:p>
          <a:p>
            <a:pPr marL="228600" lvl="0" indent="-22860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250" b="0"/>
              <a:t>結果</a:t>
            </a:r>
          </a:p>
          <a:p>
            <a:pPr marL="457200" lvl="1" indent="-228600" algn="l">
              <a:lnSpc>
                <a:spcPct val="105000"/>
              </a:lnSpc>
              <a:spcBef>
                <a:spcPts val="1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補正で良くなるのは約 0.00003（グラフの谷の深さ）</a:t>
            </a:r>
          </a:p>
          <a:p>
            <a:pPr marL="457200" lvl="1" indent="-228600" algn="l">
              <a:lnSpc>
                <a:spcPct val="105000"/>
              </a:lnSpc>
              <a:spcBef>
                <a:spcPts val="1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Private は 10 → 12 で 0.0004 良くなり、大半は成約の重みと TE の平滑化による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" y="1005840"/>
            <a:ext cx="2011680" cy="566928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JP"/>
              </a:rPr>
              <a:t>提出 10（10/20）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Noto Sans JP"/>
              </a:rPr>
              <a:t>Public LB 0.18595（L₀）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354580" y="1197864"/>
            <a:ext cx="182880" cy="91440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478024" y="1005840"/>
            <a:ext cx="2011680" cy="566928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JP"/>
              </a:rPr>
              <a:t>提出 11：7〜9 月を 1% 下げる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Noto Sans JP"/>
              </a:rPr>
              <a:t>0.18604（L₁）：少し悪化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4521708" y="1197864"/>
            <a:ext cx="182880" cy="91440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645152" y="1005840"/>
            <a:ext cx="2011680" cy="566928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JP"/>
              </a:rPr>
              <a:t>2 つの LB から逆算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Noto Sans JP"/>
              </a:rPr>
              <a:t>ずれ m ＝ ＋0.33%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6688836" y="1197864"/>
            <a:ext cx="182880" cy="91440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812280" y="1005840"/>
            <a:ext cx="2011680" cy="566928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JP"/>
              </a:rPr>
              <a:t>提出 12：全体を 0.33% 下げる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Noto Sans JP"/>
              </a:rPr>
              <a:t>0.18571（ほかの改良も追加）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274320" y="1783080"/>
          <a:ext cx="4343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振り返り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dirty="0"/>
              <a:t>実装と夜間の実験は AI、採否の判断は人という分担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310896" y="820650"/>
            <a:ext cx="8520600" cy="35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使った AI ツールと任せたこと</a:t>
            </a:r>
          </a:p>
          <a:p>
            <a:pPr marL="457200" lvl="1" indent="-2286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250" b="0"/>
              <a:t>Claude Code：コード・PR の本文・レビューを任せ、夜間は複数のエージェントに実験を順に回さ</a:t>
            </a:r>
            <a:r>
              <a:rPr lang="ja-JP" altLang="en-US" sz="1250" b="0"/>
              <a:t>た、また</a:t>
            </a:r>
            <a:r>
              <a:rPr lang="ja-JP" sz="1250" b="0"/>
              <a:t>誤差の分析と、LB probing のスクリプト作りを任せた</a:t>
            </a:r>
          </a:p>
          <a:p>
            <a:pPr marL="457200" lvl="1" indent="-2286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250" b="0"/>
              <a:t>Gemini（大久保が使用）：AI が夜間にまとめた PR を検証した</a:t>
            </a:r>
          </a:p>
          <a:p>
            <a:pPr marL="2286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AI が誤っていたこと</a:t>
            </a:r>
          </a:p>
          <a:p>
            <a:pPr marL="457200" lvl="1" indent="-2286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250" b="0"/>
              <a:t>AI は、安い価格帯かどうかを当てる分類器を足すと CV が良くなると報告した</a:t>
            </a:r>
          </a:p>
          <a:p>
            <a:pPr marL="685800" lvl="2" indent="-2286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–"/>
            </a:pPr>
            <a:r>
              <a:rPr lang="ja-JP" sz="1200" b="0"/>
              <a:t>2 段目の入力に正解の情報が漏れていて、入力を直すと改善が消えた</a:t>
            </a:r>
          </a:p>
          <a:p>
            <a:pPr marL="457200" lvl="1" indent="-2286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250" b="0"/>
              <a:t>AI が、別のセッションで書き換えられた PR に気づかず、古い手順の提出を案内した</a:t>
            </a:r>
          </a:p>
          <a:p>
            <a:pPr marL="685800" lvl="2" indent="-2286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–"/>
            </a:pPr>
            <a:r>
              <a:rPr lang="ja-JP" sz="1200" b="0"/>
              <a:t>人が PR の本文を読み直して気づいた</a:t>
            </a:r>
          </a:p>
          <a:p>
            <a:pPr marL="2286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AI と作り、人が CV を見て採否を決めたもの</a:t>
            </a:r>
          </a:p>
          <a:p>
            <a:pPr marL="457200" lvl="1" indent="-2286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250" b="0"/>
              <a:t>採用：stacking、TE 付きのモデル、seed 平均、LB probing</a:t>
            </a:r>
          </a:p>
          <a:p>
            <a:pPr marL="457200" lvl="1" indent="-2286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250" b="0"/>
              <a:t>不採用：相場から外れた取引を外す案（3 つのしきい値すべてで CV が悪化）</a:t>
            </a:r>
          </a:p>
          <a:p>
            <a:pPr marL="2286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AI への指示ファイルに書いたルール</a:t>
            </a:r>
          </a:p>
          <a:p>
            <a:pPr marL="457200" lvl="1" indent="-22860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250" b="0"/>
              <a:t>テスト期間の取引データを見ない、価格を使う特徴量は fold ごとに作る、重い計算は同時に 1 本だけ実行する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グループ全体として良かった点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話し合いの材料：全員で振り返ってから書き直す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PR と Issue で実験を記録し、CV と Public LB の対応を最後まで残せた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4 と 12 を除き CV と Public LB は向きがそろい、多くの採否を CV で決められた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CV は Private LB とも、1〜10 のすべてで同じ向きに動いた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効かなかった実験も、不採用として理由と一緒に記録した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AI に夜間の実験を任せ、朝に人が結果を見て採否を決めた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グループ全体として悪かった点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話し合いの材料：全員で振り返ってから書き直す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重い計算が 1 台の PC に集まり、試せる量が限られた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後半の改善を支えた stacking に移ったのが、締め切りの 3 日前だった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PC によって CV が 0.0001 ほど違い、小さな改善を比べにくかった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PR を前の PR の上に重ねて作ったため、どのブランチから始めるかが分かりにくかった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Public LB が test のどの部分で採点されるかを、終盤まで確かめなかった</a:t>
            </a:r>
          </a:p>
          <a:p>
            <a:pPr marL="685800" lvl="2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–"/>
            </a:pPr>
            <a:r>
              <a:rPr lang="ja-JP" sz="1300" b="0"/>
              <a:t>isotonic は CV で良くなったのに、Public だけを見てやめた（Private では良くなっていた）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南條 佑太 演習を通して学んだこと、反省点</a:t>
            </a:r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自分の担当と、最終モデルへの貢献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演習を通して学んだこと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反省点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大久保 翔 演習を通して学んだこと、反省点</a:t>
            </a:r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自分の担当と、最終モデルへの貢献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演習を通して学んだこと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反省点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藤瀬 太翼 演習を通して学んだこと、反省点</a:t>
            </a:r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自分の担当と、最終モデルへの貢献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演習を通して学んだこと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反省点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小林 麟太郎 演習を通して学んだこと、反省点</a:t>
            </a:r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自分の担当と、最終モデルへの貢献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演習を通して学んだこと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  <a:p>
            <a:pPr marL="228600" lvl="0" indent="-228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400" b="1"/>
              <a:t>反省点</a:t>
            </a:r>
          </a:p>
          <a:p>
            <a:pPr marL="457200" lvl="1" indent="-2286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350" b="0"/>
              <a:t>（本人が書く）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2566</Words>
  <Application>Microsoft Macintosh PowerPoint</Application>
  <PresentationFormat>画面に合わせる (16:9)</PresentationFormat>
  <Paragraphs>297</Paragraphs>
  <Slides>20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Arial</vt:lpstr>
      <vt:lpstr>M PLUS 1p ExtraBold</vt:lpstr>
      <vt:lpstr>Noto Sans JP</vt:lpstr>
      <vt:lpstr>Simple Light</vt:lpstr>
      <vt:lpstr>2026年度「機械学習応用」 中古マンション価格予測 最終報告 [Di molt]</vt:lpstr>
      <vt:lpstr>1. 最終モデルとそこに至った経緯</vt:lpstr>
      <vt:lpstr>相場上昇を除いた㎡単価を予測する13モデルのstacking</vt:lpstr>
      <vt:lpstr>都心 5 区の相場は 6 年で 1.62 倍に上がった</vt:lpstr>
      <vt:lpstr>前処理と、価格を使わない集計を中心にした特徴量</vt:lpstr>
      <vt:lpstr>土台は 4 モデルの平均、2 段目はずれだけを学ぶ</vt:lpstr>
      <vt:lpstr>Public LB の改善は前半が大きく、提出 10 以降は頭打ち</vt:lpstr>
      <vt:lpstr>4 人の分担と、提出ファイルを再現できる仕組み</vt:lpstr>
      <vt:lpstr>2. 試した手法とスコアの推移</vt:lpstr>
      <vt:lpstr>連動したCV と Public LB</vt:lpstr>
      <vt:lpstr>単独では提出しなかった実験の改善幅</vt:lpstr>
      <vt:lpstr>LB probing で 7〜9 月の予測が 0.33% 高いと測った</vt:lpstr>
      <vt:lpstr>3. 振り返り</vt:lpstr>
      <vt:lpstr>実装と夜間の実験は AI、採否の判断は人という分担</vt:lpstr>
      <vt:lpstr>グループ全体として良かった点 </vt:lpstr>
      <vt:lpstr>グループ全体として悪かった点 </vt:lpstr>
      <vt:lpstr>南條 佑太 演習を通して学んだこと、反省点</vt:lpstr>
      <vt:lpstr>大久保 翔 演習を通して学んだこと、反省点</vt:lpstr>
      <vt:lpstr>藤瀬 太翼 演習を通して学んだこと、反省点</vt:lpstr>
      <vt:lpstr>小林 麟太郎 演習を通して学んだこと、反省点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太翼 藤瀬</cp:lastModifiedBy>
  <cp:revision>3</cp:revision>
  <dcterms:modified xsi:type="dcterms:W3CDTF">2026-10-22T17:53:22Z</dcterms:modified>
</cp:coreProperties>
</file>