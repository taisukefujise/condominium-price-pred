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M PLUS 1p"/>
      <p:regular r:id="rId14"/>
      <p:bold r:id="rId15"/>
    </p:embeddedFont>
    <p:embeddedFont>
      <p:font typeface="M PLUS 1p ExtraBold"/>
      <p:bold r:id="rId16"/>
    </p:embeddedFont>
    <p:embeddedFont>
      <p:font typeface="Noto Sans JP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72F1EB-1AF0-43FA-8C39-57FBE8F6C2E6}">
  <a:tblStyle styleId="{A572F1EB-1AF0-43FA-8C39-57FBE8F6C2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PLUS1p-bold.fntdata"/><Relationship Id="rId14" Type="http://schemas.openxmlformats.org/officeDocument/2006/relationships/font" Target="fonts/MPLUS1p-regular.fntdata"/><Relationship Id="rId17" Type="http://schemas.openxmlformats.org/officeDocument/2006/relationships/font" Target="fonts/NotoSansJP-regular.fntdata"/><Relationship Id="rId16" Type="http://schemas.openxmlformats.org/officeDocument/2006/relationships/font" Target="fonts/MPLUS1p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NotoSansJP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8ba2e4b7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28ba2e4b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b6ac8d16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28b6ac8d1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f26_scor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f26_scor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f26_aius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f26_aius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8b6ac8d16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8b6ac8d16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93f6d7f03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93f6d7f03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93f6d7f03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93f6d7f0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087250"/>
            <a:ext cx="85206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M PLUS 1p ExtraBold"/>
              <a:buNone/>
              <a:defRPr sz="3600">
                <a:latin typeface="M PLUS 1p ExtraBold"/>
                <a:ea typeface="M PLUS 1p ExtraBold"/>
                <a:cs typeface="M PLUS 1p ExtraBold"/>
                <a:sym typeface="M PLUS 1p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M PLUS 1p ExtraBold"/>
              <a:buNone/>
              <a:defRPr b="0" sz="2200">
                <a:latin typeface="M PLUS 1p ExtraBold"/>
                <a:ea typeface="M PLUS 1p ExtraBold"/>
                <a:cs typeface="M PLUS 1p ExtraBold"/>
                <a:sym typeface="M PLUS 1p ExtraBold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JP"/>
              <a:buNone/>
              <a:defRPr b="1" sz="2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b="1" sz="28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b="1" sz="28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b="1" sz="28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b="1" sz="28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b="1" sz="28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b="1" sz="28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b="1" sz="28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1p"/>
              <a:buNone/>
              <a:defRPr b="1" sz="2800">
                <a:solidFill>
                  <a:schemeClr val="dk1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JP"/>
              <a:buChar char="●"/>
              <a:defRPr b="1" sz="1800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●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●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○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JP"/>
              <a:buChar char="■"/>
              <a:defRPr b="1">
                <a:solidFill>
                  <a:schemeClr val="dk1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3500"/>
              <a:t>2026年度</a:t>
            </a:r>
            <a:r>
              <a:rPr lang="ja" sz="3500"/>
              <a:t>「機械学習応用」</a:t>
            </a:r>
            <a:br>
              <a:rPr lang="ja" sz="4500"/>
            </a:br>
            <a:r>
              <a:rPr lang="ja" sz="4000"/>
              <a:t>中古マンション価格予測 最終報告</a:t>
            </a:r>
            <a:br>
              <a:rPr lang="ja" sz="4000"/>
            </a:br>
            <a:r>
              <a:rPr lang="ja" sz="4000"/>
              <a:t>[Di molt</a:t>
            </a:r>
            <a:r>
              <a:rPr lang="ja" sz="4000"/>
              <a:t>]</a:t>
            </a:r>
            <a:endParaRPr sz="3500"/>
          </a:p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11700" y="3166625"/>
            <a:ext cx="85206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2026/10/23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南條 佑太、大久保 翔、藤瀬 太翼、小林 麟太郎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最終的に一番良かったモデルの詳細と、そのモデルに至った経緯</a:t>
            </a:r>
            <a:endParaRPr/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最終評価に選んだ提出の内容：前処理、特徴量、モデル、手元の検証方法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そのモデルに至った経緯：何を試し、何をやめたか（主な分かれ目）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各自の取り組みが、このモデルにどう貢献したか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再現性：seed・設定・コードをどこに残し、誰が実行しても同じ結果になるか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試した手法やモデルとスコアの推移</a:t>
            </a:r>
            <a:endParaRPr/>
          </a:p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900000"/>
            <a:ext cx="8520600" cy="9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主な試行を時系列で。手元の検証スコア・Public・Privateがずれた場合は、その理由の考察も（Private順位表は10/22 0:00に公開）</a:t>
            </a:r>
            <a:endParaRPr sz="1900"/>
          </a:p>
        </p:txBody>
      </p:sp>
      <p:graphicFrame>
        <p:nvGraphicFramePr>
          <p:cNvPr id="38" name="Google Shape;38;p7"/>
          <p:cNvGraphicFramePr/>
          <p:nvPr/>
        </p:nvGraphicFramePr>
        <p:xfrm>
          <a:off x="311700" y="19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{A572F1EB-1AF0-43FA-8C39-57FBE8F6C2E6}</a:tableStyleId>
              </a:tblPr>
              <a:tblGrid>
                <a:gridCol w="2800000"/>
                <a:gridCol w="1500000"/>
                <a:gridCol w="1200000"/>
                <a:gridCol w="1200000"/>
                <a:gridCol w="1820600"/>
              </a:tblGrid>
              <a:tr h="4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試したこと（手法・モデル・特徴量）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手元の検証スコア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Public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Private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メモ（採用したか、ずれの理由 など）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AIの使い方の振り返り</a:t>
            </a:r>
            <a:endParaRPr/>
          </a:p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使ったAIツールと、AIに任せたこと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AIが誤っていたこと：どこで、どう気づき、どう確かめたか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AIの提案で採用したもの・却下したもの（中間報告以降）とその理由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ja" sz="1900"/>
              <a:t>AIへの指示ファイル（CLAUDE.md・AGENTS.md など）に書いて効いたこと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グループ全体として</a:t>
            </a:r>
            <a:r>
              <a:rPr lang="ja"/>
              <a:t>良かった点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/>
              <a:t>全員で振り返ってから書いてください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/>
              <a:t>役割分担、共同開発（GitHub・Pull Request・実験の記録）、情報共有、AIとの分担について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グループ全体として悪かった</a:t>
            </a:r>
            <a:r>
              <a:rPr lang="ja"/>
              <a:t>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/>
              <a:t>全員で振り返ってから書いてください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311700" y="34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[氏名]</a:t>
            </a:r>
            <a:r>
              <a:rPr lang="ja"/>
              <a:t> </a:t>
            </a:r>
            <a:r>
              <a:rPr lang="ja"/>
              <a:t>演習を通して学んだこと、反省点</a:t>
            </a:r>
            <a:endParaRPr/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1066700"/>
            <a:ext cx="8520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/>
              <a:t>自分の担当と、最終モデルへの貢献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/>
              <a:t>演習を通して学んだこと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/>
              <a:t>反省点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ja"/>
              <a:t>（メンバーの人数分、このスライドを複製してください）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