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</p:sldIdLst>
  <p:sldSz cy="5143500" cx="9144000"/>
  <p:notesSz cx="6858000" cy="9144000"/>
  <p:embeddedFontLst>
    <p:embeddedFont>
      <p:font typeface="M PLUS 1p ExtraBold"/>
      <p:bold r:id="rId13"/>
    </p:embeddedFont>
    <p:embeddedFont>
      <p:font typeface="Noto Sans JP"/>
      <p:regular r:id="rId14"/>
      <p:bold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3CD3E5B-FE7B-4491-BB69-26453CF59F08}">
  <a:tblStyle styleId="{53CD3E5B-FE7B-4491-BB69-26453CF59F0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font" Target="fonts/MPLUS1pExtraBold-bold.fntdata"/><Relationship Id="rId14" Type="http://schemas.openxmlformats.org/officeDocument/2006/relationships/font" Target="fonts/NotoSansJP-regular.fntdata"/><Relationship Id="rId15" Type="http://schemas.openxmlformats.org/officeDocument/2006/relationships/font" Target="fonts/NotoSansJP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28ba2e4b75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" name="Google Shape;22;g28ba2e4b75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g28b6ac8d16f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" name="Google Shape;28;g28b6ac8d16f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g30a63073b31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" name="Google Shape;34;g30a63073b31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m26_ai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" name="Google Shape;41;m26_ai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0a63073b3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0a63073b3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0a63073b31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g30a63073b31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3087250"/>
            <a:ext cx="8520600" cy="15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lt1"/>
        </a:solidFill>
      </p:bgPr>
    </p:bg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Font typeface="M PLUS 1p ExtraBold"/>
              <a:buNone/>
              <a:defRPr sz="3600">
                <a:latin typeface="M PLUS 1p ExtraBold"/>
                <a:ea typeface="M PLUS 1p ExtraBold"/>
                <a:cs typeface="M PLUS 1p ExtraBold"/>
                <a:sym typeface="M PLUS 1p ExtraBol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1pPr>
            <a:lvl2pPr indent="-355600" lvl="1" marL="9144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indent="-355600" lvl="2" marL="1371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indent="-355600" lvl="3" marL="18288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indent="-355600" lvl="4" marL="22860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indent="-355600" lvl="5" marL="27432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indent="-355600" lvl="6" marL="32004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indent="-355600" lvl="7" marL="3657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indent="-355600" lvl="8" marL="4114800" rtl="0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SzPts val="2000"/>
              <a:buChar char="■"/>
              <a:defRPr sz="20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JP"/>
              <a:buChar char="●"/>
              <a:defRPr b="1" sz="1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●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●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r">
              <a:buNone/>
              <a:defRPr sz="1000">
                <a:solidFill>
                  <a:schemeClr val="dk2"/>
                </a:solidFill>
              </a:defRPr>
            </a:lvl1pPr>
            <a:lvl2pPr lvl="1" rtl="0" algn="r">
              <a:buNone/>
              <a:defRPr sz="1000">
                <a:solidFill>
                  <a:schemeClr val="dk2"/>
                </a:solidFill>
              </a:defRPr>
            </a:lvl2pPr>
            <a:lvl3pPr lvl="2" rtl="0" algn="r">
              <a:buNone/>
              <a:defRPr sz="1000">
                <a:solidFill>
                  <a:schemeClr val="dk2"/>
                </a:solidFill>
              </a:defRPr>
            </a:lvl3pPr>
            <a:lvl4pPr lvl="3" rtl="0" algn="r">
              <a:buNone/>
              <a:defRPr sz="1000">
                <a:solidFill>
                  <a:schemeClr val="dk2"/>
                </a:solidFill>
              </a:defRPr>
            </a:lvl4pPr>
            <a:lvl5pPr lvl="4" rtl="0" algn="r">
              <a:buNone/>
              <a:defRPr sz="1000">
                <a:solidFill>
                  <a:schemeClr val="dk2"/>
                </a:solidFill>
              </a:defRPr>
            </a:lvl5pPr>
            <a:lvl6pPr lvl="5" rtl="0" algn="r">
              <a:buNone/>
              <a:defRPr sz="1000">
                <a:solidFill>
                  <a:schemeClr val="dk2"/>
                </a:solidFill>
              </a:defRPr>
            </a:lvl6pPr>
            <a:lvl7pPr lvl="6" rtl="0" algn="r">
              <a:buNone/>
              <a:defRPr sz="1000">
                <a:solidFill>
                  <a:schemeClr val="dk2"/>
                </a:solidFill>
              </a:defRPr>
            </a:lvl7pPr>
            <a:lvl8pPr lvl="7" rtl="0" algn="r">
              <a:buNone/>
              <a:defRPr sz="1000">
                <a:solidFill>
                  <a:schemeClr val="dk2"/>
                </a:solidFill>
              </a:defRPr>
            </a:lvl8pPr>
            <a:lvl9pPr lvl="8" rtl="0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ja" sz="3500"/>
              <a:t>2026年度</a:t>
            </a:r>
            <a:r>
              <a:rPr lang="ja" sz="3500">
                <a:latin typeface="Noto Sans JP"/>
                <a:ea typeface="Noto Sans JP"/>
                <a:cs typeface="Noto Sans JP"/>
                <a:sym typeface="Noto Sans JP"/>
              </a:rPr>
              <a:t>「機械学習応用」</a:t>
            </a:r>
            <a:br>
              <a:rPr lang="ja" sz="4500">
                <a:latin typeface="Noto Sans JP"/>
                <a:ea typeface="Noto Sans JP"/>
                <a:cs typeface="Noto Sans JP"/>
                <a:sym typeface="Noto Sans JP"/>
              </a:rPr>
            </a:br>
            <a:r>
              <a:rPr lang="ja" sz="3200"/>
              <a:t>中古マンション価格予測 中間報告</a:t>
            </a:r>
            <a:br>
              <a:rPr lang="ja" sz="4000">
                <a:latin typeface="Noto Sans JP"/>
                <a:ea typeface="Noto Sans JP"/>
                <a:cs typeface="Noto Sans JP"/>
                <a:sym typeface="Noto Sans JP"/>
              </a:rPr>
            </a:br>
            <a:r>
              <a:rPr lang="ja" sz="4000"/>
              <a:t>Di molt</a:t>
            </a:r>
            <a:endParaRPr sz="400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Google Shape;25;p5"/>
          <p:cNvSpPr txBox="1"/>
          <p:nvPr>
            <p:ph idx="1" type="subTitle"/>
          </p:nvPr>
        </p:nvSpPr>
        <p:spPr>
          <a:xfrm>
            <a:off x="311700" y="3087250"/>
            <a:ext cx="8520600" cy="15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2026/10/16</a:t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南條 佑太、大久保 翔、藤瀬 太翼、小林 麟太郎</a:t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役割分担（人とAIの分担も含めて）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Google Shape;31;p6"/>
          <p:cNvSpPr txBox="1"/>
          <p:nvPr>
            <p:ph idx="1" type="body"/>
          </p:nvPr>
        </p:nvSpPr>
        <p:spPr>
          <a:xfrm>
            <a:off x="311700" y="896112"/>
            <a:ext cx="8520600" cy="379476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人の分担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全員：各自のノートブックで EDA を行い、実験ごとに Issue を立てて PR を出した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藤瀬 太翼：実験の土台（構成・時系列 CV・AI への指示ファイル）と開発の手順を整え、損失関数・相場の指数の設計・主要駅までの距離の実験と、PR のレビューを担当した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南條 佑太：isotonic 較正を作り、CV と LB のずれの分析や、相場の延ばし方が過去に当たったかの検証など、PR・Issue での議論とレビューを担った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大久保 翔：最初のベースラインを作り、相場の指数を今の土台に移し替えて再実装した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小林 麟太郎：目的変数を総額から㎡単価に変え、間取りを部屋数などに分解する特徴量を試した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AIの分担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リポジトリの構成と関数の切り分けの案、前処理・特徴量・学習のコード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Issue にした実験の実行と、結果をまとめた PR の作成、PR の妥当性のレビュー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AIの出力の確認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構成とコード：AI と議論し、出力されたコードを VS Code で読みながら直し、ruff の整形と静的チェックの後も、読みにくい箇所や名前は自分で直した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変更の単位：分析の工程ごとにファイルを分け、1 回の PR は 1 つの工程の修正と検証に限って、人が検証結果と実装コードを把握できる範囲に抑えた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検証：AI が出した結果や指摘はそのまま信じず、全員が同じ 3 fold の時系列 CV で測り、提出した LB と連動するかも確かめてから採否を決めた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使ったAIツール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Claude Code（藤瀬・南條）、Antigravity CLI（大久保・小林。無料プランで使える範囲が広いため）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7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試した手法やモデルとその結果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7" name="Google Shape;37;p7"/>
          <p:cNvSpPr txBox="1"/>
          <p:nvPr>
            <p:ph idx="1" type="body"/>
          </p:nvPr>
        </p:nvSpPr>
        <p:spPr>
          <a:xfrm>
            <a:off x="311700" y="804672"/>
            <a:ext cx="8520600" cy="86868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評価：RMSLE（小さいほど良い）。過去で学習し、直後の3四半期を当てる 3 fold の時系列 CV の平均を CV スコアとする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表の値：上の行までに採用した変更を積み上げた値。「単独」の行は、相場の切り離しの上に 1 つだけ足して測った値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今の最高は LB 0.19709。上位チームは 0.19408 で、まだ 0.003 差がある</a:t>
            </a:r>
          </a:p>
        </p:txBody>
      </p:sp>
      <p:graphicFrame>
        <p:nvGraphicFramePr>
          <p:cNvPr id="38" name="Google Shape;38;p7"/>
          <p:cNvGraphicFramePr/>
          <p:nvPr/>
        </p:nvGraphicFramePr>
        <p:xfrm>
          <a:off x="310896" y="1691640"/>
          <a:ext cx="8522208" cy="3273551"/>
        </p:xfrm>
        <a:graphic>
          <a:graphicData uri="http://schemas.openxmlformats.org/drawingml/2006/table">
            <a:tbl>
              <a:tblPr>
                <a:noFill/>
                <a:tableStyleId>{53CD3E5B-FE7B-4491-BB69-26453CF59F08}</a:tableStyleId>
              </a:tblPr>
              <a:tblGrid>
                <a:gridCol w="3657600"/>
                <a:gridCol w="1234440"/>
                <a:gridCol w="1005840"/>
                <a:gridCol w="2624328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試したこと（手法・モデル・特徴量）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手元の検証スコア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Publicスコア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メモ（採用したか など）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LightGBM のベースライン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0.20674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0.20542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基準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cat_smooth（カテゴリの扱い）と learning_rate（学習率）の調整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0.20360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0.20222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採用。CV と LB が同じ幅で改善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損失関数を二乗誤差から Huber 損失に変更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0.20004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0.19914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採用。3 fold すべてで改善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isotonic 較正で予測を後から補正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0.19727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0.20059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不採用。CV は良いが LB で悪化した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目的変数を㎡単価にする（予測に面積を掛けて戻す）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0.19845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相場の上昇を目的変数から切り離し、直近の傾きで先へ延ばす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0.19664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0.19709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採用予定（レビュー中）。LB が最高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単独：主要駅までの距離 ＋ 地区の緯度・経度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0.19518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効果あり。緯度・経度を抜くと 0.19605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単独：面積 × 築年数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0.19599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効果あり。他コンペの 1 位で最も効いた列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効かなかったもの：場所の特徴量・容積率の補完など（Huber 時点）、外れ値の重み・間取りの分解（相場の切り離しの上）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差 0.0004 以内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不採用</a:t>
                      </a:r>
                    </a:p>
                  </a:txBody>
                  <a:tcPr marT="36576" marB="36576" marR="91425" marL="914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AIの提案：採用したもの・却下したもの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4" name="Google Shape;44;p8"/>
          <p:cNvSpPr txBox="1"/>
          <p:nvPr>
            <p:ph idx="1" type="body"/>
          </p:nvPr>
        </p:nvSpPr>
        <p:spPr>
          <a:xfrm>
            <a:off x="311700" y="1000000"/>
            <a:ext cx="8520600" cy="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buNone/>
            </a:pPr>
            <a:r>
              <a:rPr lang="ja-JP" sz="1100" b="0"/>
              <a:t>構成と関数の分け方は AI の案を議論して直してから採用し、実験の案・集計・レビューは CV とデータで確かめて採否を決めた</a:t>
            </a:r>
          </a:p>
        </p:txBody>
      </p:sp>
      <p:graphicFrame>
        <p:nvGraphicFramePr>
          <p:cNvPr id="45" name="Google Shape;45;p8"/>
          <p:cNvGraphicFramePr/>
          <p:nvPr/>
        </p:nvGraphicFramePr>
        <p:xfrm>
          <a:off x="310896" y="1417320"/>
          <a:ext cx="8522208" cy="3054096"/>
        </p:xfrm>
        <a:graphic>
          <a:graphicData uri="http://schemas.openxmlformats.org/drawingml/2006/table">
            <a:tbl>
              <a:tblPr>
                <a:noFill/>
                <a:tableStyleId>{53CD3E5B-FE7B-4491-BB69-26453CF59F08}</a:tableStyleId>
              </a:tblPr>
              <a:tblGrid>
                <a:gridCol w="3108960"/>
                <a:gridCol w="1508760"/>
                <a:gridCol w="3904487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AIの提案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採用 / 却下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理由（どう確かめたか）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構成：実験ごとに記録用のフォルダを作り、コードを工程番号つきのファイルに分ける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修正して採用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議論して、実験の記録は PR に一本化し、ファイルは前処理・学習データの選択など工程ごとに分ける形に直した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関数の分け方：学習と予測を1つの関数で行う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修正して採用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CV 用と本番用に分けた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分ける前後で CV が完全に一致することを確かめた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実験の案：件数の少ないカテゴリでも木が分岐できるよう、パラメータを下げる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却下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CV が変わらず、逆向き（件数の少ないカテゴリを全体の平均に寄せる）のほうが効いた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集計：価格のばらつきのうち、容積率で説明できる割合は 0.6%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却下（数値を訂正）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条件を変えて数え直し、値が1種類しかない地区まで混ぜていた誤りを見つけた（正しくは 0.9%）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PR のレビュー：較正の移植で見つけた不具合 2 件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直したあとも CV が変わらないことを確かめた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PR のレビュー：相場の指数で、件数で重みをつけた分位点と、欠けた四半期の埋め方がおかしい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却下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データで確かめ、前者はわざと（価格帯ごとの件数をそろえて指数を安定させる）、後者は今のデータでは起きないと分かった</a:t>
                      </a:r>
                    </a:p>
                  </a:txBody>
                  <a:tcPr marT="36576" marB="36576" marR="91425" marL="914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共同開発方法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51" name="Google Shape;51;p9"/>
          <p:cNvSpPr txBox="1"/>
          <p:nvPr>
            <p:ph idx="1" type="body"/>
          </p:nvPr>
        </p:nvSpPr>
        <p:spPr>
          <a:xfrm>
            <a:off x="311700" y="896112"/>
            <a:ext cx="8520600" cy="379476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GitHub の使い方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実験は Issue → ブランチ → PR の流れで進め、PR の本文に「main の CV → この PR の CV」を書く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CV が良くならなかった実験も、結果を書いて「不採用」ラベルで閉じ、同じ実験を二度試さないようにする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レビューは藤瀬が中心に行い、AI のレビューの指摘もあわせて直してからマージする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実験の記録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seed（42）とパラメータはコードに固定し、変えたときは PR に書く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PR に fold ごとの CV・比べた main のコミット・Public LB を書く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AIへの指示ファイル（CLAUDE.md・AGENTS.md）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テスト期間（2025年第3四半期以降）の取引データを取得・参照しない規約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検証の方法を合意なしに変えないこと、target encoding など価格を使う特徴量は fold ごとに作ること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型ヒント・docstring・変数名・関数名の決まり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グループ内の情報共有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連絡は Discord で行い、PR を出したら全体チャンネルで報告して、全員が確認する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submission チャンネルで日ごとの提出担当を割り当て、提出した PR を報告する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10/11 に全員で MTG を開き、土台の構成と担当を決めた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ここまでの進め方で良かった点・悪かった点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57" name="Google Shape;57;p10"/>
          <p:cNvSpPr txBox="1"/>
          <p:nvPr>
            <p:ph idx="1" type="body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良かった点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チームの土台の上では全員が同じ時系列 CV で比べたので、施策の良し悪しを同じ基準で判断できた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CV と LB のずれを提出で切り分け、isotonic 較正が test で効いていないと分かって外せた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AI のレビューの指摘も、設計の元にした EDA の値も、データで確かめてから採否を決めた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不採用の実験も PR に残し、同じ実験を二度試さずに済んだ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悪かった点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土台の整備に時間がかかり、実験の着手が遅れた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isotonic 較正を CV だけで「採用予定」にし、LB で悪化すると分かるまで時間がかかった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EDA で決めた値（2021 年で区切る・価格帯は 5 つ）に根拠がなかった（結果への影響はほぼなし）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最終報告までに変えること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提出の担当者が自分で main を動かして提出し、コードの理解とコミットが1人に偏らないようにする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単独で効いた特徴量（主要駅までの距離・面積 × 築年数）を積み上げ、相場の延ばし方を見直し、モデルを混ぜる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