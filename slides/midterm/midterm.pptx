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 PLUS 1p ExtraBold"/>
      <p:bold r:id="rId13"/>
    </p:embeddedFont>
    <p:embeddedFont>
      <p:font typeface="Noto Sans JP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CD3E5B-FE7B-4491-BB69-26453CF59F08}">
  <a:tblStyle styleId="{53CD3E5B-FE7B-4491-BB69-26453CF59F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MPLUS1pExtraBold-bold.fntdata"/><Relationship Id="rId14" Type="http://schemas.openxmlformats.org/officeDocument/2006/relationships/font" Target="fonts/NotoSansJP-regular.fntdata"/><Relationship Id="rId15" Type="http://schemas.openxmlformats.org/officeDocument/2006/relationships/font" Target="fonts/NotoSansJP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8ba2e4b7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28ba2e4b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b6ac8d16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28b6ac8d16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0a63073b3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0a63073b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m26_a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m26_a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0a63073b3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0a63073b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a63073b3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0a63073b3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087250"/>
            <a:ext cx="85206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 PLUS 1p ExtraBold"/>
              <a:buNone/>
              <a:defRPr sz="360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JP"/>
              <a:buChar char="●"/>
              <a:defRPr b="1" sz="1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500"/>
              <a:t>2026年度</a:t>
            </a:r>
            <a:r>
              <a:rPr lang="ja" sz="3500">
                <a:latin typeface="Noto Sans JP"/>
                <a:ea typeface="Noto Sans JP"/>
                <a:cs typeface="Noto Sans JP"/>
                <a:sym typeface="Noto Sans JP"/>
              </a:rPr>
              <a:t>「機械学習応用」</a:t>
            </a:r>
            <a:br>
              <a:rPr lang="ja" sz="4500"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lang="ja" sz="3200"/>
              <a:t>中古マンション価格予測 中間報告</a:t>
            </a:r>
            <a:br>
              <a:rPr lang="ja" sz="4000"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lang="ja" sz="4000"/>
              <a:t>Di molt</a:t>
            </a:r>
            <a:endParaRPr sz="400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3087250"/>
            <a:ext cx="85206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2026/10/16</a:t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南條 佑太、大久保 翔、藤瀬 太翼、小林 麟太郎</a:t>
            </a:r>
            <a:endParaRPr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役割分担（人とAIの分担も含めて）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11700" y="896112"/>
            <a:ext cx="8520600" cy="37947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lvl="0" marL="2286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1"/>
              <a:t>人の分担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全員：各自のノートブックで EDA を行い、実験ごとに Issue を立てて PR を出した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藤瀬 太翼：実験の土台（構成・時系列 CV・AI への指示ファイル）と開発の手順を整え、損失関数・目的変数の設計などの実験と、PR のレビューを担当した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南條 佑太：isotonic 較正を作り、CV と LB のずれの分析など、PR・Issue での議論とレビューを担った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大久保 翔：最初のベースラインを作り、目的変数の設計の実験を今の土台に移し替えて再実装した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小林 麟太郎：目的変数を総額から㎡単価に変え、間取りを部屋数などに分解する特徴量を試した</a:t>
            </a:r>
          </a:p>
          <a:p>
            <a:pPr lvl="0" marL="228600" indent="-228600" algn="l">
              <a:lnSpc>
                <a:spcPct val="122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1"/>
              <a:t>AIの分担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リポジトリの構成と関数の切り分けの案、前処理・特徴量・学習のコード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Issue にした実験の実行と、結果をまとめた PR の作成、PR の妥当性のレビュー</a:t>
            </a:r>
          </a:p>
          <a:p>
            <a:pPr lvl="0" marL="228600" indent="-228600" algn="l">
              <a:lnSpc>
                <a:spcPct val="122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1"/>
              <a:t>AIの出力の確認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構成とコード：AI と議論し、出力されたコードを VS Code で読みながら直し、ruff の整形と静的チェックの後も、読みにくい箇所や名前は自分で直した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変更の単位：分析の工程ごとにファイルを分け、1 回の PR は 1 つの工程の修正と検証に限って、人が検証結果と実装コードを把握できる範囲に抑えた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検証：AI が出した結果や指摘はそのまま信じず、全員が同じ 3 fold の時系列 CV で測り、提出した LB と連動するかも確かめてから採否を決めた</a:t>
            </a:r>
          </a:p>
          <a:p>
            <a:pPr lvl="0" marL="228600" indent="-228600" algn="l">
              <a:lnSpc>
                <a:spcPct val="122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00" b="1"/>
              <a:t>使ったAIツール</a:t>
            </a:r>
          </a:p>
          <a:p>
            <a:pPr lvl="1" marL="457200" indent="-228600" algn="l">
              <a:lnSpc>
                <a:spcPct val="122000"/>
              </a:lnSpc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00" b="0"/>
              <a:t>Claude Code（藤瀬・南條）、Antigravity CLI（大久保・小林。無料プランで使える範囲が広いため）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試した手法やモデルとその結果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804672"/>
            <a:ext cx="8520600" cy="8686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lvl="0" marL="228600" indent="-228600" algn="l">
              <a:spcBef>
                <a:spcPts val="50"/>
              </a:spcBef>
              <a:spcAft>
                <a:spcPts val="5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950" b="0"/>
              <a:t>評価：RMSLE（小さいほど良い）。過去で学習し、直後の3四半期を当てる 3 fold の時系列 CV の平均を CV スコアとする</a:t>
            </a:r>
          </a:p>
          <a:p>
            <a:pPr lvl="0" marL="228600" indent="-228600" algn="l">
              <a:spcBef>
                <a:spcPts val="50"/>
              </a:spcBef>
              <a:spcAft>
                <a:spcPts val="5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950" b="0"/>
              <a:t>表の値：上の行までに採用した変更を積み上げた値</a:t>
            </a:r>
          </a:p>
          <a:p>
            <a:pPr lvl="0" marL="228600" indent="-228600" algn="l">
              <a:spcBef>
                <a:spcPts val="50"/>
              </a:spcBef>
              <a:spcAft>
                <a:spcPts val="5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950" b="0"/>
              <a:t>今の最高は LB 0.19709。上位チームは 0.19408 で、まだ 0.003 差がある</a:t>
            </a:r>
          </a:p>
        </p:txBody>
      </p:sp>
      <p:graphicFrame>
        <p:nvGraphicFramePr>
          <p:cNvPr id="38" name="Google Shape;38;p7"/>
          <p:cNvGraphicFramePr/>
          <p:nvPr/>
        </p:nvGraphicFramePr>
        <p:xfrm>
          <a:off x="310896" y="1691640"/>
          <a:ext cx="8522208" cy="2615184"/>
        </p:xfrm>
        <a:graphic>
          <a:graphicData uri="http://schemas.openxmlformats.org/drawingml/2006/table">
            <a:tbl>
              <a:tblPr>
                <a:noFill/>
                <a:tableStyleId>{53CD3E5B-FE7B-4491-BB69-26453CF59F08}</a:tableStyleId>
              </a:tblPr>
              <a:tblGrid>
                <a:gridCol w="3657600"/>
                <a:gridCol w="1234440"/>
                <a:gridCol w="1005840"/>
                <a:gridCol w="2624328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1">
                          <a:latin typeface="Noto Sans JP"/>
                          <a:ea typeface="Noto Sans JP"/>
                          <a:cs typeface="Noto Sans JP"/>
                        </a:rPr>
                        <a:t>試したこと（手法・モデル・特徴量）</a:t>
                      </a:r>
                    </a:p>
                  </a:txBody>
                  <a:tcPr marT="36576" marB="36576" marR="91425" marL="91425" anchor="ctr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1">
                          <a:latin typeface="Noto Sans JP"/>
                          <a:ea typeface="Noto Sans JP"/>
                          <a:cs typeface="Noto Sans JP"/>
                        </a:rPr>
                        <a:t>手元の検証スコア</a:t>
                      </a:r>
                    </a:p>
                  </a:txBody>
                  <a:tcPr marT="36576" marB="36576" marR="91425" marL="91425" anchor="ctr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1">
                          <a:latin typeface="Noto Sans JP"/>
                          <a:ea typeface="Noto Sans JP"/>
                          <a:cs typeface="Noto Sans JP"/>
                        </a:rPr>
                        <a:t>Publicスコア</a:t>
                      </a:r>
                    </a:p>
                  </a:txBody>
                  <a:tcPr marT="36576" marB="36576" marR="91425" marL="91425" anchor="ctr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1">
                          <a:latin typeface="Noto Sans JP"/>
                          <a:ea typeface="Noto Sans JP"/>
                          <a:cs typeface="Noto Sans JP"/>
                        </a:rPr>
                        <a:t>メモ（採用したか など）</a:t>
                      </a:r>
                    </a:p>
                  </a:txBody>
                  <a:tcPr marT="36576" marB="36576" marR="91425" marL="91425" anchor="ctr">
                    <a:solidFill>
                      <a:srgbClr val="E5ED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LightGBM のベースライン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0.20674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0.20542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基準</a:t>
                      </a:r>
                    </a:p>
                  </a:txBody>
                  <a:tcPr marT="36576" marB="36576" marR="91425" marL="91425" anchor="ctr"/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cat_smooth（カテゴリの扱い）と learning_rate（学習率）の調整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0.20360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0.20222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採用。CV と LB が同じ幅で改善</a:t>
                      </a:r>
                    </a:p>
                  </a:txBody>
                  <a:tcPr marT="36576" marB="36576" marR="91425" marL="91425" anchor="ctr"/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損失関数を二乗誤差から Huber 損失に変更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0.20004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0.19914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採用。3 fold すべてで改善</a:t>
                      </a:r>
                    </a:p>
                  </a:txBody>
                  <a:tcPr marT="36576" marB="36576" marR="91425" marL="91425" anchor="ctr"/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isotonic 較正で予測を後から補正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0.19727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0.20059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不採用。CV は良いが LB で悪化した</a:t>
                      </a:r>
                    </a:p>
                  </a:txBody>
                  <a:tcPr marT="36576" marB="36576" marR="91425" marL="91425" anchor="ctr"/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目的変数を㎡単価にする（予測に面積を掛けて戻す）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0.19845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採用</a:t>
                      </a:r>
                    </a:p>
                  </a:txBody>
                  <a:tcPr marT="36576" marB="36576" marR="91425" marL="91425" anchor="ctr"/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目的変数の設計を見直す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0.19664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0.19709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採用予定（レビュー中）。LB が最高</a:t>
                      </a:r>
                    </a:p>
                  </a:txBody>
                  <a:tcPr marT="36576" marB="36576" marR="91425" marL="91425" anchor="ctr"/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効かなかったもの：場所の特徴量・容積率の補完など（Huber 時点）、外れ値の重み・間取りの分解（最新の土台の上）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差 0.0004 以内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850" b="0">
                          <a:latin typeface="Noto Sans JP"/>
                          <a:ea typeface="Noto Sans JP"/>
                          <a:cs typeface="Noto Sans JP"/>
                        </a:rPr>
                        <a:t>不採用</a:t>
                      </a:r>
                    </a:p>
                  </a:txBody>
                  <a:tcPr marT="36576" marB="36576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AIの提案：採用したもの・却下したもの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11700" y="1000000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marL="0" indent="0" algn="l">
              <a:buNone/>
            </a:pPr>
            <a:r>
              <a:rPr lang="ja-JP" sz="1100" b="0"/>
              <a:t>構成と関数の分け方は AI の案を議論して直してから採用し、実験の案・集計・レビューは CV とデータで確かめて採否を決めた</a:t>
            </a:r>
          </a:p>
        </p:txBody>
      </p:sp>
      <p:graphicFrame>
        <p:nvGraphicFramePr>
          <p:cNvPr id="45" name="Google Shape;45;p8"/>
          <p:cNvGraphicFramePr/>
          <p:nvPr/>
        </p:nvGraphicFramePr>
        <p:xfrm>
          <a:off x="310896" y="1417320"/>
          <a:ext cx="8522208" cy="3054096"/>
        </p:xfrm>
        <a:graphic>
          <a:graphicData uri="http://schemas.openxmlformats.org/drawingml/2006/table">
            <a:tbl>
              <a:tblPr>
                <a:noFill/>
                <a:tableStyleId>{53CD3E5B-FE7B-4491-BB69-26453CF59F08}</a:tableStyleId>
              </a:tblPr>
              <a:tblGrid>
                <a:gridCol w="3108960"/>
                <a:gridCol w="1508760"/>
                <a:gridCol w="3904487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000" b="1">
                          <a:latin typeface="Noto Sans JP"/>
                          <a:ea typeface="Noto Sans JP"/>
                          <a:cs typeface="Noto Sans JP"/>
                        </a:rPr>
                        <a:t>AIの提案</a:t>
                      </a:r>
                    </a:p>
                  </a:txBody>
                  <a:tcPr marT="36576" marB="36576" marR="91425" marL="91425" anchor="ctr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000" b="1">
                          <a:latin typeface="Noto Sans JP"/>
                          <a:ea typeface="Noto Sans JP"/>
                          <a:cs typeface="Noto Sans JP"/>
                        </a:rPr>
                        <a:t>採用 / 却下</a:t>
                      </a:r>
                    </a:p>
                  </a:txBody>
                  <a:tcPr marT="36576" marB="36576" marR="91425" marL="91425" anchor="ctr">
                    <a:solidFill>
                      <a:srgbClr val="E5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1000" b="1">
                          <a:latin typeface="Noto Sans JP"/>
                          <a:ea typeface="Noto Sans JP"/>
                          <a:cs typeface="Noto Sans JP"/>
                        </a:rPr>
                        <a:t>理由（どう確かめたか）</a:t>
                      </a:r>
                    </a:p>
                  </a:txBody>
                  <a:tcPr marT="36576" marB="36576" marR="91425" marL="91425" anchor="ctr">
                    <a:solidFill>
                      <a:srgbClr val="E5E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リポジトリ設計・コード：実験ごとに記録用のフォルダを作り、工程番号つきのファイルに分ける。学習と予測を 1 つの関数で行う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修正して採用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議論して、実験の記録は PR に一本化し、ファイルは工程ごと、関数は CV 用と本番用に分けた。分ける前後で CV が完全に一致することを確かめた</a:t>
                      </a:r>
                    </a:p>
                  </a:txBody>
                  <a:tcPr marT="36576" marB="36576" marR="91425" marL="91425"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実験の案：件数の少ないカテゴリでも木が分岐できるよう、パラメータを下げる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却下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CV が変わらず、逆向き（件数の少ないカテゴリを全体の平均に寄せる）のほうが効いた</a:t>
                      </a:r>
                    </a:p>
                  </a:txBody>
                  <a:tcPr marT="36576" marB="36576" marR="91425" marL="91425"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集計：価格のばらつきのうち、容積率で説明できる割合は 0.6%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却下（数値を訂正）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条件を変えて数え直し、値が1種類しかない地区まで混ぜていた誤りを見つけた（正しくは 0.9%）</a:t>
                      </a:r>
                    </a:p>
                  </a:txBody>
                  <a:tcPr marT="36576" marB="36576" marR="91425" marL="91425"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PR のレビュー：較正の移植で見つけた不具合 2 件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採用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直したあとも CV が変わらないことを確かめた</a:t>
                      </a:r>
                    </a:p>
                  </a:txBody>
                  <a:tcPr marT="36576" marB="36576" marR="91425" marL="91425"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PR のレビュー：分位点の取り方と、欠けた値の埋め方がおかしい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却下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データで確かめ、前者はわざとそうしていて、後者は今のデータでは起きないと分かった</a:t>
                      </a:r>
                    </a:p>
                  </a:txBody>
                  <a:tcPr marT="36576" marB="36576" marR="91425" marL="91425"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実装：理由の書かれていない決め打ちの値（期間の区切り・グループの数・くり返しの回数）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修正して採用</a:t>
                      </a:r>
                    </a:p>
                  </a:txBody>
                  <a:tcPr marT="36576" marB="36576" marR="91425" marL="91425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sz="950" b="0">
                          <a:latin typeface="Noto Sans JP"/>
                          <a:ea typeface="Noto Sans JP"/>
                          <a:cs typeface="Noto Sans JP"/>
                        </a:rPr>
                        <a:t>値を変えて結果への影響を確かめ、定数にして理由を書くよう直した。影響の大きい値は今後の改善の対象にした</a:t>
                      </a:r>
                    </a:p>
                  </a:txBody>
                  <a:tcPr marT="36576" marB="36576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共同開発方法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11700" y="896112"/>
            <a:ext cx="8520600" cy="37947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lvl="0" marL="228600" indent="-228600" algn="l"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50" b="1"/>
              <a:t>GitHub の使い方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実験は Issue → ブランチ → PR の流れで進め、PR の本文に「main の CV → この PR の CV」を書く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CV が良くならなかった実験も、結果を書いて「不採用」ラベルで閉じ、同じ実験を二度試さないようにする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レビューは藤瀬が中心に行い、AI のレビューの指摘もあわせて直してからマージする</a:t>
            </a:r>
          </a:p>
          <a:p>
            <a:pPr lvl="0" marL="228600" indent="-228600" algn="l"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50" b="1"/>
              <a:t>実験の記録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seed（42）とパラメータはコードに固定し、変えたときは PR に書く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PR に fold ごとの CV・比べた main のコミット・Public LB を書く</a:t>
            </a:r>
          </a:p>
          <a:p>
            <a:pPr lvl="0" marL="228600" indent="-228600" algn="l"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50" b="1"/>
              <a:t>AIへの指示ファイル（CLAUDE.md・AGENTS.md）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テスト期間（2025年第3四半期以降）の取引データを取得・参照しない規約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検証の方法を合意なしに変えないこと、target encoding など価格を使う特徴量は fold ごとに作ること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型ヒント・docstring・変数名・関数名の決まり</a:t>
            </a:r>
          </a:p>
          <a:p>
            <a:pPr lvl="0" marL="228600" indent="-228600" algn="l"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150" b="1"/>
              <a:t>グループ内の情報共有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連絡は Discord で行い、PR を出したら全体チャンネルで報告して、全員が確認する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submission チャンネルで日ごとの提出担当を割り当て、提出した PR を報告する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050" b="0"/>
              <a:t>10/11 に全員で MTG を開き、土台の構成と担当を決めた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Noto Sans JP"/>
                <a:ea typeface="Noto Sans JP"/>
                <a:cs typeface="Noto Sans JP"/>
                <a:sym typeface="Noto Sans JP"/>
              </a:rPr>
              <a:t>ここまでの進め方で良かった点・悪かった点</a:t>
            </a:r>
            <a:endParaRPr b="1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lvl="0" marL="228600" indent="-228600" algn="l"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00" b="1"/>
              <a:t>良かった点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チームの土台の上では全員が同じ時系列 CV で比べたので、施策の良し悪しを同じ基準で判断できた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CV と LB のずれを提出で切り分け、isotonic 較正が test で効いていないと分かって外せた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AI のレビューの指摘も、設計の元にした EDA の値も、データで確かめてから採否を決めた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不採用の実験も PR に残し、同じ実験を二度試さずに済んだ</a:t>
            </a:r>
          </a:p>
          <a:p>
            <a:pPr lvl="0" marL="228600" indent="-228600" algn="l"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00" b="1"/>
              <a:t>悪かった点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土台の整備に時間がかかり、実験の着手が遅れた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isotonic 較正を CV だけで「採用予定」にし、LB で悪化すると分かるまで時間がかかった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EDA で決めた値の一部に根拠がなかった（結果への影響はほぼなし）</a:t>
            </a:r>
          </a:p>
          <a:p>
            <a:pPr lvl="0" marL="228600" indent="-228600" algn="l"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Arial"/>
              <a:buChar char="●"/>
            </a:pPr>
            <a:r>
              <a:rPr lang="ja-JP" sz="1200" b="1"/>
              <a:t>最終報告までに変えること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提出の担当者が自分で main を動かして提出し、コードの理解とコミットが1人に偏らないようにする</a:t>
            </a:r>
          </a:p>
          <a:p>
            <a:pPr lvl="1" marL="457200" indent="-228600" algn="l">
              <a:spcBef>
                <a:spcPts val="50"/>
              </a:spcBef>
              <a:spcAft>
                <a:spcPts val="0"/>
              </a:spcAft>
              <a:buClr>
                <a:srgbClr val="737373"/>
              </a:buClr>
              <a:buSzPct val="90000"/>
              <a:buFont typeface="Arial"/>
              <a:buChar char="○"/>
            </a:pPr>
            <a:r>
              <a:rPr lang="ja-JP" sz="1100" b="0"/>
              <a:t>効いた特徴量を積み上げ、モデルを混ぜる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