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M PLUS 1p ExtraBold"/>
      <p:bold r:id="rId13"/>
    </p:embeddedFont>
    <p:embeddedFont>
      <p:font typeface="Noto Sans JP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CD3E5B-FE7B-4491-BB69-26453CF59F08}">
  <a:tblStyle styleId="{53CD3E5B-FE7B-4491-BB69-26453CF59F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PLUS1pExtraBold-bold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otoSansJP-bold.fntdata"/><Relationship Id="rId14" Type="http://schemas.openxmlformats.org/officeDocument/2006/relationships/font" Target="fonts/NotoSansJP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8ba2e4b7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28ba2e4b7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8b6ac8d16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28b6ac8d16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0a63073b3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30a63073b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m26_ai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m26_ai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0a63073b3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0a63073b3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0a63073b3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0a63073b3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087250"/>
            <a:ext cx="85206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M PLUS 1p ExtraBold"/>
              <a:buNone/>
              <a:defRPr sz="3600">
                <a:latin typeface="M PLUS 1p ExtraBold"/>
                <a:ea typeface="M PLUS 1p ExtraBold"/>
                <a:cs typeface="M PLUS 1p ExtraBold"/>
                <a:sym typeface="M PLUS 1p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indent="-355600" lvl="1" marL="9144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indent="-355600" lvl="2" marL="1371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indent="-355600" lvl="3" marL="18288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indent="-355600" lvl="4" marL="22860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indent="-355600" lvl="5" marL="27432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indent="-355600" lvl="6" marL="32004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indent="-355600" lvl="7" marL="3657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indent="-355600" lvl="8" marL="411480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JP"/>
              <a:buChar char="●"/>
              <a:defRPr b="1" sz="1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●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●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500"/>
              <a:t>2026年度</a:t>
            </a:r>
            <a:r>
              <a:rPr lang="ja" sz="3500">
                <a:latin typeface="Noto Sans JP"/>
                <a:ea typeface="Noto Sans JP"/>
                <a:cs typeface="Noto Sans JP"/>
                <a:sym typeface="Noto Sans JP"/>
              </a:rPr>
              <a:t>「機械学習応用」</a:t>
            </a:r>
            <a:br>
              <a:rPr lang="ja" sz="4500"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lang="ja" sz="3200"/>
              <a:t>中古マンション価格予測 中間報告</a:t>
            </a:r>
            <a:br>
              <a:rPr lang="ja" sz="4000"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lang="ja" sz="4000"/>
              <a:t>[グループ名]</a:t>
            </a:r>
            <a:endParaRPr sz="400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11700" y="3087250"/>
            <a:ext cx="85206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2026/10/16</a:t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南條 佑太、大久保 翔、藤瀬 太翼、小林 麟太郎</a:t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Noto Sans JP"/>
                <a:ea typeface="Noto Sans JP"/>
                <a:cs typeface="Noto Sans JP"/>
                <a:sym typeface="Noto Sans JP"/>
              </a:rPr>
              <a:t>役割分担（人とAIの分担も含めて）</a:t>
            </a:r>
            <a:endParaRPr b="1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人の分担：誰が何を担当したか</a:t>
            </a:r>
            <a:endParaRPr b="0" sz="1600">
              <a:solidFill>
                <a:srgbClr val="73737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AIの分担：AIに任せたこと（例：前処理のコード、特徴量の案出し、ハイパーパラメータ探索）</a:t>
            </a:r>
            <a:endParaRPr b="0" sz="1600">
              <a:solidFill>
                <a:srgbClr val="73737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AIの出力を、誰がどのように確認したか</a:t>
            </a:r>
            <a:endParaRPr b="0" sz="1600">
              <a:solidFill>
                <a:srgbClr val="73737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使ったAIツール（Claude Code、GitHub Copilot、Gemini など）</a:t>
            </a:r>
            <a:endParaRPr b="0" sz="1600">
              <a:solidFill>
                <a:srgbClr val="73737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Noto Sans JP"/>
                <a:ea typeface="Noto Sans JP"/>
                <a:cs typeface="Noto Sans JP"/>
                <a:sym typeface="Noto Sans JP"/>
              </a:rPr>
              <a:t>試した手法やモデルとその結果</a:t>
            </a:r>
            <a:endParaRPr b="1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000000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ja" sz="1400">
                <a:solidFill>
                  <a:srgbClr val="737373"/>
                </a:solidFill>
              </a:rPr>
              <a:t>手元の検証方法（検証データの作り方）も書いてください。手元の検証スコアとPublicスコアがずれた場合は、その理由の考察も</a:t>
            </a:r>
            <a:endParaRPr b="0" sz="1400">
              <a:solidFill>
                <a:srgbClr val="737373"/>
              </a:solidFill>
            </a:endParaRPr>
          </a:p>
        </p:txBody>
      </p:sp>
      <p:graphicFrame>
        <p:nvGraphicFramePr>
          <p:cNvPr id="38" name="Google Shape;38;p7"/>
          <p:cNvGraphicFramePr/>
          <p:nvPr/>
        </p:nvGraphicFramePr>
        <p:xfrm>
          <a:off x="311700" y="17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{53CD3E5B-FE7B-4491-BB69-26453CF59F08}</a:tableStyleId>
              </a:tblPr>
              <a:tblGrid>
                <a:gridCol w="2130000"/>
                <a:gridCol w="2130000"/>
                <a:gridCol w="2130000"/>
                <a:gridCol w="2130000"/>
              </a:tblGrid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200"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試したこと（手法・モデル・特徴量）</a:t>
                      </a:r>
                      <a:endParaRPr sz="120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91425" marB="91425" marR="91425" marL="91425"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200"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手元の検証スコア</a:t>
                      </a:r>
                      <a:endParaRPr sz="120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91425" marB="91425" marR="91425" marL="91425"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200"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Publicスコア</a:t>
                      </a:r>
                      <a:endParaRPr sz="120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91425" marB="91425" marR="91425" marL="91425"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200"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メモ（採用したか など）</a:t>
                      </a:r>
                      <a:endParaRPr sz="120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91425" marB="91425" marR="91425" marL="91425">
                    <a:solidFill>
                      <a:srgbClr val="E5EDF5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Noto Sans JP"/>
                <a:ea typeface="Noto Sans JP"/>
                <a:cs typeface="Noto Sans JP"/>
                <a:sym typeface="Noto Sans JP"/>
              </a:rPr>
              <a:t>AIの提案：採用したもの・却下したもの</a:t>
            </a:r>
            <a:endParaRPr b="1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311700" y="1000000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ja" sz="1400">
                <a:solidFill>
                  <a:srgbClr val="737373"/>
                </a:solidFill>
              </a:rPr>
              <a:t>AIの提案のうち、採用したもの・却下したものを挙げ、その理由と確かめ方を書いてください。AIが誤っていた例も歓迎です</a:t>
            </a:r>
            <a:endParaRPr b="0" sz="1400">
              <a:solidFill>
                <a:srgbClr val="737373"/>
              </a:solidFill>
            </a:endParaRPr>
          </a:p>
        </p:txBody>
      </p:sp>
      <p:graphicFrame>
        <p:nvGraphicFramePr>
          <p:cNvPr id="45" name="Google Shape;45;p8"/>
          <p:cNvGraphicFramePr/>
          <p:nvPr/>
        </p:nvGraphicFramePr>
        <p:xfrm>
          <a:off x="311700" y="17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{53CD3E5B-FE7B-4491-BB69-26453CF59F08}</a:tableStyleId>
              </a:tblPr>
              <a:tblGrid>
                <a:gridCol w="2840000"/>
                <a:gridCol w="2840000"/>
                <a:gridCol w="2840000"/>
              </a:tblGrid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200"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AIの提案</a:t>
                      </a:r>
                      <a:endParaRPr sz="120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91425" marB="91425" marR="91425" marL="91425"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200"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採用 / 却下</a:t>
                      </a:r>
                      <a:endParaRPr sz="120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91425" marB="91425" marR="91425" marL="91425"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200"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理由（どう確かめたか）</a:t>
                      </a:r>
                      <a:endParaRPr sz="120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91425" marB="91425" marR="91425" marL="91425">
                    <a:solidFill>
                      <a:srgbClr val="E5EDF5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Noto Sans JP"/>
                <a:ea typeface="Noto Sans JP"/>
                <a:cs typeface="Noto Sans JP"/>
                <a:sym typeface="Noto Sans JP"/>
              </a:rPr>
              <a:t>共同開発方法</a:t>
            </a:r>
            <a:endParaRPr b="1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GitHubの使い方：ブランチ、Pull Request、レビューの進め方</a:t>
            </a:r>
            <a:endParaRPr b="0" sz="1600">
              <a:solidFill>
                <a:srgbClr val="73737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実験の記録：設定（seed・パラメータ）とスコアをどこにどう残しているか</a:t>
            </a:r>
            <a:endParaRPr b="0" sz="1600">
              <a:solidFill>
                <a:srgbClr val="73737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AIへの指示ファイル（CLAUDE.md・AGENTS.md など）に何を書いたか</a:t>
            </a:r>
            <a:endParaRPr b="0" sz="1600">
              <a:solidFill>
                <a:srgbClr val="73737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グループ</a:t>
            </a:r>
            <a:r>
              <a:rPr b="0" lang="ja" sz="1600">
                <a:solidFill>
                  <a:srgbClr val="737373"/>
                </a:solidFill>
              </a:rPr>
              <a:t>内の情報共有：打ち合わせ、Slack など</a:t>
            </a:r>
            <a:endParaRPr b="0" sz="1600">
              <a:solidFill>
                <a:srgbClr val="73737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Noto Sans JP"/>
                <a:ea typeface="Noto Sans JP"/>
                <a:cs typeface="Noto Sans JP"/>
                <a:sym typeface="Noto Sans JP"/>
              </a:rPr>
              <a:t>ここまでの進め方で良かった点・悪かった点</a:t>
            </a:r>
            <a:endParaRPr b="1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良かった点</a:t>
            </a:r>
            <a:endParaRPr b="0" sz="1600">
              <a:solidFill>
                <a:srgbClr val="73737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悪かった点</a:t>
            </a:r>
            <a:endParaRPr b="0" sz="1600">
              <a:solidFill>
                <a:srgbClr val="73737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Char char="●"/>
            </a:pPr>
            <a:r>
              <a:rPr b="0" lang="ja" sz="1600">
                <a:solidFill>
                  <a:srgbClr val="737373"/>
                </a:solidFill>
              </a:rPr>
              <a:t>最終報告までに変えること</a:t>
            </a:r>
            <a:endParaRPr b="0" sz="1600">
              <a:solidFill>
                <a:srgbClr val="73737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